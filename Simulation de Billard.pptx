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78" r:id="rId4"/>
    <p:sldId id="272" r:id="rId5"/>
    <p:sldId id="281" r:id="rId6"/>
    <p:sldId id="273" r:id="rId7"/>
    <p:sldId id="258" r:id="rId8"/>
    <p:sldId id="283" r:id="rId9"/>
    <p:sldId id="260" r:id="rId10"/>
    <p:sldId id="282" r:id="rId11"/>
    <p:sldId id="262" r:id="rId12"/>
    <p:sldId id="263" r:id="rId13"/>
    <p:sldId id="259" r:id="rId14"/>
    <p:sldId id="261" r:id="rId15"/>
    <p:sldId id="286" r:id="rId16"/>
    <p:sldId id="288" r:id="rId17"/>
    <p:sldId id="265" r:id="rId18"/>
    <p:sldId id="268" r:id="rId19"/>
    <p:sldId id="285" r:id="rId20"/>
    <p:sldId id="289" r:id="rId21"/>
    <p:sldId id="287" r:id="rId22"/>
  </p:sldIdLst>
  <p:sldSz cx="32512000" cy="1828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2.jpe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32499321" cy="18288000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4996342" y="4040684"/>
            <a:ext cx="22506939" cy="104527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26565" algn="l" rtl="0" eaLnBrk="0">
              <a:lnSpc>
                <a:spcPct val="82000"/>
              </a:lnSpc>
              <a:spcBef>
                <a:spcPts val="4830"/>
              </a:spcBef>
            </a:pPr>
            <a:r>
              <a:rPr lang="en-US" sz="16000" b="1" kern="0" spc="-580" dirty="0">
                <a:solidFill>
                  <a:srgbClr val="204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J</a:t>
            </a:r>
            <a:r>
              <a:rPr sz="16000" b="1" kern="0" spc="-690" dirty="0">
                <a:solidFill>
                  <a:srgbClr val="204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eu de billard 2D</a:t>
            </a:r>
            <a:endParaRPr lang="en-US" altLang="zh-CN" sz="16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b="1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b="1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b="1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b="1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b="1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b="1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r>
              <a:rPr lang="en-US" sz="3800" b="1" kern="0" spc="-2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                                     </a:t>
            </a:r>
            <a:r>
              <a:rPr sz="3800" b="1" kern="0" spc="-2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Présenté   par:</a:t>
            </a:r>
            <a:r>
              <a:rPr lang="en-US" sz="3800" b="1" kern="0" spc="-2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 Zhaoyi, Yan, Yihan      Date</a:t>
            </a:r>
            <a:r>
              <a:rPr lang="zh-CN" altLang="en-US" sz="3800" b="1" kern="0" spc="-2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宋体" pitchFamily="2" charset="-122"/>
                <a:cs typeface="Arial" panose="020B0604020202020204"/>
                <a:sym typeface="+mn-ea"/>
              </a:rPr>
              <a:t>：</a:t>
            </a:r>
            <a:r>
              <a:rPr lang="en-US" altLang="zh-CN" sz="3800" b="1" kern="0" spc="-2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宋体" pitchFamily="2" charset="-122"/>
                <a:cs typeface="Arial" panose="020B0604020202020204"/>
                <a:sym typeface="+mn-ea"/>
              </a:rPr>
              <a:t>14/04/2026</a:t>
            </a:r>
            <a:endParaRPr lang="en-US" altLang="zh-CN" sz="3800" b="1" kern="0" spc="-20" dirty="0">
              <a:solidFill>
                <a:srgbClr val="306080">
                  <a:alpha val="100000"/>
                </a:srgbClr>
              </a:solidFill>
              <a:latin typeface="Arial" panose="020B0604020202020204"/>
              <a:ea typeface="宋体" pitchFamily="2" charset="-122"/>
              <a:cs typeface="Arial" panose="020B0604020202020204"/>
            </a:endParaRPr>
          </a:p>
          <a:p>
            <a:pPr marL="6298565" algn="l" rtl="0" eaLnBrk="0">
              <a:lnSpc>
                <a:spcPts val="5435"/>
              </a:lnSpc>
              <a:spcBef>
                <a:spcPts val="1150"/>
              </a:spcBef>
            </a:pPr>
            <a:endParaRPr sz="3800" b="1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331210" y="13163550"/>
            <a:ext cx="2585021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sz="3800" b="1" kern="0" spc="-2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le mode deux joueurs, les collisions physiques, la détection des fautes ainsi que le mé</a:t>
            </a:r>
            <a:r>
              <a:rPr sz="3800" b="1" kern="0" spc="-2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canisme de bille en main</a:t>
            </a:r>
            <a:endParaRPr lang="en-US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" name="textbox 32"/>
          <p:cNvSpPr/>
          <p:nvPr/>
        </p:nvSpPr>
        <p:spPr>
          <a:xfrm>
            <a:off x="8198485" y="5212080"/>
            <a:ext cx="7754620" cy="12896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>
            <a:scene3d>
              <a:camera prst="orthographicFront"/>
              <a:lightRig rig="threePt" dir="t"/>
            </a:scene3d>
          </a:bodyPr>
          <a:lstStyle/>
          <a:p>
            <a:pPr algn="l" rtl="0" eaLnBrk="0">
              <a:lnSpc>
                <a:spcPct val="81000"/>
              </a:lnSpc>
              <a:spcBef>
                <a:spcPts val="0"/>
              </a:spcBef>
            </a:pPr>
            <a:endParaRPr lang="en-US" sz="9600" b="1" kern="0" spc="-90" dirty="0">
              <a:ln w="15875"/>
              <a:gradFill>
                <a:gsLst>
                  <a:gs pos="0">
                    <a:schemeClr val="accent1">
                      <a:hueMod val="80000"/>
                    </a:schemeClr>
                  </a:gs>
                  <a:gs pos="100000">
                    <a:schemeClr val="accent1">
                      <a:alpha val="100000"/>
                    </a:schemeClr>
                  </a:gs>
                </a:gsLst>
                <a:lin ang="2700000" scaled="0"/>
              </a:gradFill>
              <a:effectLst/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textbox 4"/>
          <p:cNvSpPr/>
          <p:nvPr/>
        </p:nvSpPr>
        <p:spPr>
          <a:xfrm>
            <a:off x="6581302" y="6381294"/>
            <a:ext cx="22506939" cy="104527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26565" algn="l" rtl="0" eaLnBrk="0">
              <a:lnSpc>
                <a:spcPct val="82000"/>
              </a:lnSpc>
              <a:spcBef>
                <a:spcPts val="4830"/>
              </a:spcBef>
            </a:pPr>
            <a:r>
              <a:rPr lang="en-US" sz="16000" b="1" kern="0" spc="-580" dirty="0">
                <a:solidFill>
                  <a:srgbClr val="204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Introduction</a:t>
            </a:r>
            <a:endParaRPr lang="en-US" altLang="zh-CN" sz="16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b="1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b="1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b="1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b="1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b="1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b="1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r>
              <a:rPr lang="en-US" sz="3800" b="1" kern="0" spc="-2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                                    </a:t>
            </a:r>
            <a:endParaRPr sz="3800" b="1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8"/>
          <p:cNvSpPr/>
          <p:nvPr/>
        </p:nvSpPr>
        <p:spPr>
          <a:xfrm>
            <a:off x="1447800" y="4093210"/>
            <a:ext cx="29533850" cy="78460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24000"/>
              </a:lnSpc>
              <a:spcBef>
                <a:spcPts val="1235"/>
              </a:spcBef>
            </a:pPr>
            <a:r>
              <a:rPr lang="zh-CN" sz="6400" b="1" kern="0" spc="-280" dirty="0">
                <a:solidFill>
                  <a:srgbClr val="208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★</a:t>
            </a:r>
            <a:r>
              <a:rPr lang="en-US" altLang="zh-CN" sz="6400" b="1" kern="0" spc="-280" dirty="0">
                <a:solidFill>
                  <a:srgbClr val="208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6400" b="1" kern="0" spc="-280" dirty="0">
                <a:solidFill>
                  <a:srgbClr val="208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Réaliser un jeu de billard interactif</a:t>
            </a:r>
            <a:endParaRPr sz="6400" b="1" kern="0" spc="-280" dirty="0">
              <a:solidFill>
                <a:srgbClr val="20809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24000"/>
              </a:lnSpc>
              <a:spcBef>
                <a:spcPts val="1235"/>
              </a:spcBef>
            </a:pPr>
            <a:r>
              <a:rPr lang="zh-CN" sz="6400" b="1" kern="0" spc="-280" dirty="0">
                <a:solidFill>
                  <a:srgbClr val="208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★</a:t>
            </a:r>
            <a:r>
              <a:rPr lang="en-US" altLang="zh-CN" sz="6400" b="1" kern="0" spc="-280" dirty="0">
                <a:solidFill>
                  <a:srgbClr val="208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 </a:t>
            </a:r>
            <a:r>
              <a:rPr sz="6400" b="1" kern="0" spc="-280" dirty="0">
                <a:solidFill>
                  <a:srgbClr val="208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Gérer un déroulement complet des tours de jeu</a:t>
            </a:r>
            <a:endParaRPr sz="6400" b="1" kern="0" spc="-280" dirty="0">
              <a:solidFill>
                <a:srgbClr val="20809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24000"/>
              </a:lnSpc>
              <a:spcBef>
                <a:spcPts val="1235"/>
              </a:spcBef>
            </a:pPr>
            <a:r>
              <a:rPr lang="zh-CN" sz="6400" b="1" kern="0" spc="-280" dirty="0">
                <a:solidFill>
                  <a:srgbClr val="208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★</a:t>
            </a:r>
            <a:r>
              <a:rPr lang="en-US" altLang="zh-CN" sz="6400" b="1" kern="0" spc="-280" dirty="0">
                <a:solidFill>
                  <a:srgbClr val="208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 </a:t>
            </a:r>
            <a:r>
              <a:rPr sz="6400" b="1" kern="0" spc="-280" dirty="0">
                <a:solidFill>
                  <a:srgbClr val="208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Prendre en charge le mouvement physique et la détection des règles</a:t>
            </a:r>
            <a:endParaRPr sz="6400" b="1" kern="0" spc="-280" dirty="0">
              <a:solidFill>
                <a:srgbClr val="20809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24000"/>
              </a:lnSpc>
              <a:spcBef>
                <a:spcPts val="1235"/>
              </a:spcBef>
            </a:pPr>
            <a:r>
              <a:rPr lang="zh-CN" sz="6400" b="1" kern="0" spc="-280" dirty="0">
                <a:solidFill>
                  <a:srgbClr val="208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★</a:t>
            </a:r>
            <a:r>
              <a:rPr lang="en-US" altLang="zh-CN" sz="6400" b="1" kern="0" spc="-280" dirty="0">
                <a:solidFill>
                  <a:srgbClr val="208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 </a:t>
            </a:r>
            <a:r>
              <a:rPr sz="6400" b="1" kern="0" spc="-280" dirty="0">
                <a:solidFill>
                  <a:srgbClr val="208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Intégrer une interface utilisateur avec menu, pause et écran de résultat</a:t>
            </a:r>
            <a:endParaRPr sz="6400" b="1" kern="0" spc="-280" dirty="0">
              <a:solidFill>
                <a:srgbClr val="20809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2" name="textbox 32"/>
          <p:cNvSpPr/>
          <p:nvPr/>
        </p:nvSpPr>
        <p:spPr>
          <a:xfrm>
            <a:off x="1447739" y="1917658"/>
            <a:ext cx="14991714" cy="10191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81000"/>
              </a:lnSpc>
              <a:spcBef>
                <a:spcPts val="0"/>
              </a:spcBef>
            </a:pPr>
            <a:r>
              <a:rPr lang="en-US" sz="8000" b="1" kern="0" spc="-90" dirty="0">
                <a:solidFill>
                  <a:srgbClr val="204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</a:t>
            </a:r>
            <a:r>
              <a:rPr sz="8000" b="1" kern="0" spc="-90" dirty="0">
                <a:solidFill>
                  <a:srgbClr val="204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rincipales </a:t>
            </a:r>
            <a:r>
              <a:rPr lang="en-US" sz="8000" b="1" kern="0" spc="-90" dirty="0">
                <a:solidFill>
                  <a:srgbClr val="204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</a:t>
            </a:r>
            <a:r>
              <a:rPr sz="8000" b="1" kern="0" spc="-90" dirty="0">
                <a:solidFill>
                  <a:srgbClr val="204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onctionnalités</a:t>
            </a:r>
            <a:endParaRPr sz="8000" b="1" kern="0" spc="-90" dirty="0">
              <a:solidFill>
                <a:srgbClr val="20405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460438" y="3155960"/>
            <a:ext cx="29521218" cy="57058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8128000" y="8605520"/>
            <a:ext cx="16256000" cy="10763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6400" b="1" kern="0" spc="-280" dirty="0">
                <a:solidFill>
                  <a:srgbClr val="208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 </a:t>
            </a:r>
            <a:endParaRPr lang="en-US" altLang="zh-CN" sz="6400" b="1" kern="0" spc="-280" dirty="0">
              <a:solidFill>
                <a:srgbClr val="20809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688820" y="2347595"/>
            <a:ext cx="108375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" name="textbox 32"/>
          <p:cNvSpPr/>
          <p:nvPr/>
        </p:nvSpPr>
        <p:spPr>
          <a:xfrm>
            <a:off x="8198485" y="5212080"/>
            <a:ext cx="7754620" cy="12896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>
            <a:scene3d>
              <a:camera prst="orthographicFront"/>
              <a:lightRig rig="threePt" dir="t"/>
            </a:scene3d>
          </a:bodyPr>
          <a:lstStyle/>
          <a:p>
            <a:pPr algn="l" rtl="0" eaLnBrk="0">
              <a:lnSpc>
                <a:spcPct val="81000"/>
              </a:lnSpc>
              <a:spcBef>
                <a:spcPts val="0"/>
              </a:spcBef>
            </a:pPr>
            <a:endParaRPr lang="en-US" sz="9600" b="1" kern="0" spc="-90" dirty="0">
              <a:ln w="15875"/>
              <a:gradFill>
                <a:gsLst>
                  <a:gs pos="0">
                    <a:schemeClr val="accent1">
                      <a:hueMod val="80000"/>
                    </a:schemeClr>
                  </a:gs>
                  <a:gs pos="100000">
                    <a:schemeClr val="accent1">
                      <a:alpha val="100000"/>
                    </a:schemeClr>
                  </a:gs>
                </a:gsLst>
                <a:lin ang="2700000" scaled="0"/>
              </a:gradFill>
              <a:effectLst/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textbox 4"/>
          <p:cNvSpPr/>
          <p:nvPr/>
        </p:nvSpPr>
        <p:spPr>
          <a:xfrm>
            <a:off x="3016885" y="6129020"/>
            <a:ext cx="28501340" cy="104527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26565" algn="l" rtl="0" eaLnBrk="0">
              <a:lnSpc>
                <a:spcPct val="82000"/>
              </a:lnSpc>
              <a:spcBef>
                <a:spcPts val="4830"/>
              </a:spcBef>
            </a:pPr>
            <a:r>
              <a:rPr lang="en-US" sz="16000" b="1" kern="0" spc="-580" dirty="0">
                <a:solidFill>
                  <a:srgbClr val="204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Modélisation &amp; Méthodes</a:t>
            </a:r>
            <a:endParaRPr lang="en-US" sz="16000" b="1" kern="0" spc="-580" dirty="0">
              <a:solidFill>
                <a:srgbClr val="20404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lang="en-US" sz="16000" b="1" kern="0" spc="-580" dirty="0">
              <a:solidFill>
                <a:srgbClr val="20404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lang="en-US" sz="16000" b="1" kern="0" spc="-580" dirty="0">
              <a:solidFill>
                <a:srgbClr val="20404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b="1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b="1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b="1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b="1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b="1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b="1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r>
              <a:rPr lang="en-US" sz="3800" b="1" kern="0" spc="-2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                                    </a:t>
            </a:r>
            <a:endParaRPr sz="3800" b="1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8"/>
          <p:cNvSpPr/>
          <p:nvPr/>
        </p:nvSpPr>
        <p:spPr>
          <a:xfrm>
            <a:off x="1447800" y="4093210"/>
            <a:ext cx="29533850" cy="78460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24000"/>
              </a:lnSpc>
              <a:spcBef>
                <a:spcPts val="1235"/>
              </a:spcBef>
            </a:pPr>
            <a:r>
              <a:rPr lang="zh-CN" altLang="en-US" sz="6400" b="1" kern="0" spc="-280" dirty="0">
                <a:solidFill>
                  <a:srgbClr val="208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- </a:t>
            </a:r>
            <a:r>
              <a:rPr lang="en-US" altLang="zh-CN" sz="6400" b="1" kern="0" spc="-280" dirty="0">
                <a:solidFill>
                  <a:srgbClr val="208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main : boucle principale et contrôle des </a:t>
            </a:r>
            <a:r>
              <a:rPr lang="en-US" altLang="en-US" sz="6400" b="1" kern="0" spc="-280" dirty="0">
                <a:solidFill>
                  <a:srgbClr val="208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é</a:t>
            </a:r>
            <a:r>
              <a:rPr lang="en-US" altLang="zh-CN" sz="6400" b="1" kern="0" spc="-280" dirty="0">
                <a:solidFill>
                  <a:srgbClr val="208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tats</a:t>
            </a:r>
            <a:endParaRPr lang="en-US" altLang="zh-CN" sz="6400" b="1" kern="0" spc="-280" dirty="0">
              <a:solidFill>
                <a:srgbClr val="20809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24000"/>
              </a:lnSpc>
              <a:spcBef>
                <a:spcPts val="1235"/>
              </a:spcBef>
            </a:pPr>
            <a:endParaRPr lang="en-US" altLang="zh-CN" sz="6400" b="1" kern="0" spc="-280" dirty="0">
              <a:solidFill>
                <a:srgbClr val="20809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24000"/>
              </a:lnSpc>
              <a:spcBef>
                <a:spcPts val="1235"/>
              </a:spcBef>
            </a:pPr>
            <a:r>
              <a:rPr lang="zh-CN" altLang="en-US" sz="6400" b="1" kern="0" spc="-280" dirty="0">
                <a:solidFill>
                  <a:srgbClr val="208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-</a:t>
            </a:r>
            <a:r>
              <a:rPr lang="en-US" altLang="zh-CN" sz="6400" b="1" kern="0" spc="-280" dirty="0">
                <a:solidFill>
                  <a:srgbClr val="208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 </a:t>
            </a:r>
            <a:r>
              <a:rPr lang="en-US" altLang="zh-CN" sz="6400" b="1" kern="0" spc="-280" dirty="0">
                <a:solidFill>
                  <a:srgbClr val="208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Renderer : gestion des entr</a:t>
            </a:r>
            <a:r>
              <a:rPr lang="en-US" altLang="en-US" sz="6400" b="1" kern="0" spc="-280" dirty="0">
                <a:solidFill>
                  <a:srgbClr val="208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é</a:t>
            </a:r>
            <a:r>
              <a:rPr lang="en-US" altLang="zh-CN" sz="6400" b="1" kern="0" spc="-280" dirty="0">
                <a:solidFill>
                  <a:srgbClr val="208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es et rendu de l’interface</a:t>
            </a:r>
            <a:endParaRPr lang="en-US" altLang="zh-CN" sz="6400" b="1" kern="0" spc="-280" dirty="0">
              <a:solidFill>
                <a:srgbClr val="20809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24000"/>
              </a:lnSpc>
              <a:spcBef>
                <a:spcPts val="1235"/>
              </a:spcBef>
            </a:pPr>
            <a:endParaRPr lang="en-US" altLang="zh-CN" sz="6400" b="1" kern="0" spc="-280" dirty="0">
              <a:solidFill>
                <a:srgbClr val="20809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24000"/>
              </a:lnSpc>
              <a:spcBef>
                <a:spcPts val="1235"/>
              </a:spcBef>
            </a:pPr>
            <a:r>
              <a:rPr lang="zh-CN" sz="6400" b="1" kern="0" spc="-280" dirty="0">
                <a:solidFill>
                  <a:srgbClr val="208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★</a:t>
            </a:r>
            <a:r>
              <a:rPr lang="en-US" altLang="zh-CN" sz="6400" b="1" kern="0" spc="-280" dirty="0">
                <a:solidFill>
                  <a:srgbClr val="208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 </a:t>
            </a:r>
            <a:r>
              <a:rPr lang="en-US" altLang="zh-CN" sz="6400" b="1" kern="0" spc="-280" dirty="0">
                <a:solidFill>
                  <a:srgbClr val="208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Table : gestion de la table et v</a:t>
            </a:r>
            <a:r>
              <a:rPr lang="en-US" altLang="en-US" sz="6400" b="1" kern="0" spc="-280" dirty="0">
                <a:solidFill>
                  <a:srgbClr val="208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é</a:t>
            </a:r>
            <a:r>
              <a:rPr lang="en-US" altLang="zh-CN" sz="6400" b="1" kern="0" spc="-280" dirty="0">
                <a:solidFill>
                  <a:srgbClr val="208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rification des r</a:t>
            </a:r>
            <a:r>
              <a:rPr lang="en-US" altLang="en-US" sz="6400" b="1" kern="0" spc="-280" dirty="0">
                <a:solidFill>
                  <a:srgbClr val="208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è</a:t>
            </a:r>
            <a:r>
              <a:rPr lang="en-US" altLang="zh-CN" sz="6400" b="1" kern="0" spc="-280" dirty="0">
                <a:solidFill>
                  <a:srgbClr val="208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gles</a:t>
            </a:r>
            <a:endParaRPr lang="en-US" altLang="zh-CN" sz="6400" b="1" kern="0" spc="-280" dirty="0">
              <a:solidFill>
                <a:srgbClr val="20809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24000"/>
              </a:lnSpc>
              <a:spcBef>
                <a:spcPts val="1235"/>
              </a:spcBef>
            </a:pPr>
            <a:endParaRPr lang="en-US" altLang="zh-CN" sz="6400" b="1" kern="0" spc="-280" dirty="0">
              <a:solidFill>
                <a:srgbClr val="20809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24000"/>
              </a:lnSpc>
              <a:spcBef>
                <a:spcPts val="1235"/>
              </a:spcBef>
            </a:pPr>
            <a:r>
              <a:rPr lang="zh-CN" sz="6400" b="1" kern="0" spc="-280" dirty="0">
                <a:solidFill>
                  <a:srgbClr val="208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★</a:t>
            </a:r>
            <a:r>
              <a:rPr lang="en-US" altLang="zh-CN" sz="6400" b="1" kern="0" spc="-280" dirty="0">
                <a:solidFill>
                  <a:srgbClr val="208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 </a:t>
            </a:r>
            <a:r>
              <a:rPr lang="en-US" altLang="zh-CN" sz="6400" b="1" kern="0" spc="-280" dirty="0">
                <a:solidFill>
                  <a:srgbClr val="208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Boule : mise à jour physique des billes</a:t>
            </a:r>
            <a:endParaRPr lang="en-US" altLang="zh-CN" sz="6400" b="1" kern="0" spc="-280" dirty="0">
              <a:solidFill>
                <a:srgbClr val="20809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24000"/>
              </a:lnSpc>
              <a:spcBef>
                <a:spcPts val="1235"/>
              </a:spcBef>
            </a:pPr>
            <a:endParaRPr lang="en-US" altLang="zh-CN" sz="6400" b="1" kern="0" spc="-280" dirty="0">
              <a:solidFill>
                <a:srgbClr val="20809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24000"/>
              </a:lnSpc>
              <a:spcBef>
                <a:spcPts val="1235"/>
              </a:spcBef>
            </a:pPr>
            <a:r>
              <a:rPr lang="zh-CN" sz="6400" b="1" kern="0" spc="-280" dirty="0">
                <a:solidFill>
                  <a:srgbClr val="208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★</a:t>
            </a:r>
            <a:r>
              <a:rPr lang="en-US" altLang="zh-CN" sz="6400" b="1" kern="0" spc="-280" dirty="0">
                <a:solidFill>
                  <a:srgbClr val="208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 </a:t>
            </a:r>
            <a:r>
              <a:rPr lang="en-US" altLang="zh-CN" sz="6400" b="1" kern="0" spc="-280" dirty="0">
                <a:solidFill>
                  <a:srgbClr val="208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Vector2D : op</a:t>
            </a:r>
            <a:r>
              <a:rPr lang="en-US" altLang="en-US" sz="6400" b="1" kern="0" spc="-280" dirty="0">
                <a:solidFill>
                  <a:srgbClr val="208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é</a:t>
            </a:r>
            <a:r>
              <a:rPr lang="en-US" altLang="zh-CN" sz="6400" b="1" kern="0" spc="-280" dirty="0">
                <a:solidFill>
                  <a:srgbClr val="208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rations vectorielles</a:t>
            </a:r>
            <a:endParaRPr lang="en-US" altLang="zh-CN" sz="6400" b="1" kern="0" spc="-280" dirty="0">
              <a:solidFill>
                <a:srgbClr val="20809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2" name="textbox 32"/>
          <p:cNvSpPr/>
          <p:nvPr/>
        </p:nvSpPr>
        <p:spPr>
          <a:xfrm>
            <a:off x="1447800" y="1917700"/>
            <a:ext cx="28282265" cy="10191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81000"/>
              </a:lnSpc>
              <a:spcBef>
                <a:spcPts val="0"/>
              </a:spcBef>
            </a:pPr>
            <a:r>
              <a:rPr lang="en-US" altLang="zh-CN" sz="8000" b="1" kern="0" spc="-90" dirty="0">
                <a:solidFill>
                  <a:srgbClr val="204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</a:t>
            </a:r>
            <a:r>
              <a:rPr lang="en-US" altLang="en-US" sz="8000" b="1" kern="0" spc="-90" dirty="0">
                <a:solidFill>
                  <a:srgbClr val="204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é</a:t>
            </a:r>
            <a:r>
              <a:rPr lang="en-US" altLang="zh-CN" sz="8000" b="1" kern="0" spc="-90" dirty="0">
                <a:solidFill>
                  <a:srgbClr val="204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partition des modules</a:t>
            </a:r>
            <a:endParaRPr lang="en-US" altLang="zh-CN" sz="8000" b="1" kern="0" spc="-90" dirty="0">
              <a:solidFill>
                <a:srgbClr val="20405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460438" y="3155960"/>
            <a:ext cx="29521218" cy="5705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6840241" y="4267141"/>
            <a:ext cx="14071520" cy="7924919"/>
          </a:xfrm>
          <a:prstGeom prst="rect">
            <a:avLst/>
          </a:prstGeom>
        </p:spPr>
      </p:pic>
      <p:sp>
        <p:nvSpPr>
          <p:cNvPr id="28" name="textbox 28"/>
          <p:cNvSpPr/>
          <p:nvPr/>
        </p:nvSpPr>
        <p:spPr>
          <a:xfrm>
            <a:off x="1447739" y="4093016"/>
            <a:ext cx="14067155" cy="78460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9875"/>
              </a:lnSpc>
            </a:pPr>
            <a:r>
              <a:rPr sz="6400" b="1" kern="0" spc="-270" dirty="0">
                <a:solidFill>
                  <a:srgbClr val="208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Surcharge d'</a:t>
            </a:r>
            <a:r>
              <a:rPr sz="6400" b="1" kern="0" spc="-280" dirty="0">
                <a:solidFill>
                  <a:srgbClr val="208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opérateurs</a:t>
            </a:r>
            <a:endParaRPr sz="6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24000"/>
              </a:lnSpc>
              <a:spcBef>
                <a:spcPts val="1235"/>
              </a:spcBef>
            </a:pPr>
            <a:r>
              <a:rPr sz="4100" kern="0" spc="-11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Pour impl</a:t>
            </a:r>
            <a:r>
              <a:rPr sz="4100" kern="0" spc="-12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émenter les formules de</a:t>
            </a:r>
            <a:r>
              <a:rPr sz="4100" kern="0" spc="23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4100" kern="0" spc="-12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Newton de</a:t>
            </a:r>
            <a:r>
              <a:rPr sz="4100" kern="0" spc="19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4100" kern="0" spc="-12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maniere</a:t>
            </a:r>
            <a:r>
              <a:rPr sz="4100" kern="0" spc="19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4100" kern="0" spc="-12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lisible,</a:t>
            </a:r>
            <a:r>
              <a:rPr sz="4100" kern="0" spc="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 </a:t>
            </a:r>
            <a:r>
              <a:rPr sz="4200" kern="0" spc="-13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nous avons surchargé les opérateurs de</a:t>
            </a:r>
            <a:r>
              <a:rPr sz="4200" kern="0" spc="17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4200" kern="0" spc="-13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base</a:t>
            </a:r>
            <a:r>
              <a:rPr sz="4200" kern="0" spc="-14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(+,-,*,dot,</a:t>
            </a:r>
            <a:endParaRPr sz="4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6625"/>
              </a:lnSpc>
            </a:pPr>
            <a:r>
              <a:rPr sz="4500" kern="0" spc="-180" dirty="0">
                <a:solidFill>
                  <a:srgbClr val="20607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normalize).</a:t>
            </a:r>
            <a:endParaRPr sz="4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6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047115" indent="-551815" algn="l" rtl="0" eaLnBrk="0">
              <a:lnSpc>
                <a:spcPct val="120000"/>
              </a:lnSpc>
              <a:spcBef>
                <a:spcPts val="1240"/>
              </a:spcBef>
            </a:pPr>
            <a:r>
              <a:rPr sz="4100" kern="0" spc="-3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·Lisibilité:Les équations physi</a:t>
            </a:r>
            <a:r>
              <a:rPr sz="4100" kern="0" spc="-4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ques ressemblent à</a:t>
            </a:r>
            <a:r>
              <a:rPr sz="4100" kern="0" spc="11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4100" kern="0" spc="-4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du</a:t>
            </a:r>
            <a:r>
              <a:rPr sz="4100" kern="0" spc="6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4100" kern="0" spc="-4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texte</a:t>
            </a:r>
            <a:r>
              <a:rPr sz="4100" kern="0" spc="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</a:t>
            </a:r>
            <a:r>
              <a:rPr sz="4400" kern="0" spc="-20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mathématique.</a:t>
            </a:r>
            <a:endParaRPr sz="4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047115" indent="-551815" algn="l" rtl="0" eaLnBrk="0">
              <a:lnSpc>
                <a:spcPct val="142000"/>
              </a:lnSpc>
              <a:spcBef>
                <a:spcPts val="65"/>
              </a:spcBef>
            </a:pPr>
            <a:r>
              <a:rPr sz="4500" kern="0" spc="-160" dirty="0">
                <a:solidFill>
                  <a:srgbClr val="2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·Projection:Le dot</a:t>
            </a:r>
            <a:r>
              <a:rPr sz="4500" kern="0" spc="170" dirty="0">
                <a:solidFill>
                  <a:srgbClr val="2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4500" kern="0" spc="-160" dirty="0">
                <a:solidFill>
                  <a:srgbClr val="2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product e</a:t>
            </a:r>
            <a:r>
              <a:rPr sz="4500" kern="0" spc="-170" dirty="0">
                <a:solidFill>
                  <a:srgbClr val="2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 essentiel</a:t>
            </a:r>
            <a:r>
              <a:rPr sz="4500" kern="0" spc="190" dirty="0">
                <a:solidFill>
                  <a:srgbClr val="2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4500" kern="0" spc="-170" dirty="0">
                <a:solidFill>
                  <a:srgbClr val="2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pour les</a:t>
            </a:r>
            <a:r>
              <a:rPr sz="4500" kern="0" spc="180" dirty="0">
                <a:solidFill>
                  <a:srgbClr val="2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4500" kern="0" spc="-170" dirty="0">
                <a:solidFill>
                  <a:srgbClr val="2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réflexions</a:t>
            </a:r>
            <a:r>
              <a:rPr sz="4500" kern="0" spc="0" dirty="0">
                <a:solidFill>
                  <a:srgbClr val="2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4100" kern="0" spc="-130" dirty="0">
                <a:solidFill>
                  <a:srgbClr val="2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sur les</a:t>
            </a:r>
            <a:r>
              <a:rPr sz="4100" kern="0" spc="240" dirty="0">
                <a:solidFill>
                  <a:srgbClr val="2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4100" kern="0" spc="-130" dirty="0">
                <a:solidFill>
                  <a:srgbClr val="2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bandes.</a:t>
            </a:r>
            <a:endParaRPr sz="41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0" name="textbox 30"/>
          <p:cNvSpPr/>
          <p:nvPr/>
        </p:nvSpPr>
        <p:spPr>
          <a:xfrm>
            <a:off x="17341879" y="4801643"/>
            <a:ext cx="12056109" cy="60915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9000"/>
              </a:lnSpc>
            </a:pPr>
            <a:r>
              <a:rPr sz="4100" kern="0" spc="-1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//vector2D.cpp</a:t>
            </a:r>
            <a:endParaRPr sz="4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18515" indent="-805815" algn="l" rtl="0" eaLnBrk="0">
              <a:lnSpc>
                <a:spcPct val="90000"/>
              </a:lnSpc>
              <a:spcBef>
                <a:spcPts val="40"/>
              </a:spcBef>
            </a:pPr>
            <a:r>
              <a:rPr sz="3900" kern="0" spc="-1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Vector2D Vec</a:t>
            </a:r>
            <a:r>
              <a:rPr sz="3900" kern="0" spc="-1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tor2D::</a:t>
            </a:r>
            <a:r>
              <a:rPr sz="3900" kern="0" spc="-170" dirty="0">
                <a:solidFill>
                  <a:srgbClr val="000000">
                    <a:alpha val="100000"/>
                  </a:srgbClr>
                </a:solidFill>
                <a:highlight>
                  <a:srgbClr val="FFFF00"/>
                </a:highlight>
                <a:latin typeface="Arial" panose="020B0604020202020204"/>
                <a:ea typeface="Arial" panose="020B0604020202020204"/>
                <a:cs typeface="Arial" panose="020B0604020202020204"/>
              </a:rPr>
              <a:t>operator+</a:t>
            </a:r>
            <a:r>
              <a:rPr sz="3900" kern="0" spc="-1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(const Vector2D&amp;other)const{</a:t>
            </a:r>
            <a:r>
              <a:rPr sz="39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41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return</a:t>
            </a:r>
            <a:r>
              <a:rPr sz="4100" kern="0" spc="2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41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Vector2D(x+other.x,y+other.y);</a:t>
            </a:r>
            <a:endParaRPr sz="4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18515" indent="-805815" algn="l" rtl="0" eaLnBrk="0">
              <a:lnSpc>
                <a:spcPct val="104000"/>
              </a:lnSpc>
              <a:spcBef>
                <a:spcPts val="1210"/>
              </a:spcBef>
            </a:pPr>
            <a:r>
              <a:rPr sz="4000" kern="0" spc="-1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float Vector2D::</a:t>
            </a:r>
            <a:r>
              <a:rPr sz="4000" kern="0" spc="-140" dirty="0">
                <a:solidFill>
                  <a:srgbClr val="000000">
                    <a:alpha val="100000"/>
                  </a:srgbClr>
                </a:solidFill>
                <a:highlight>
                  <a:srgbClr val="FFFF00"/>
                </a:highlight>
                <a:latin typeface="Arial" panose="020B0604020202020204"/>
                <a:ea typeface="Arial" panose="020B0604020202020204"/>
                <a:cs typeface="Arial" panose="020B0604020202020204"/>
              </a:rPr>
              <a:t>dot</a:t>
            </a:r>
            <a:r>
              <a:rPr sz="4000" kern="0" spc="-1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(const Vector2D&amp;other)c</a:t>
            </a:r>
            <a:r>
              <a:rPr sz="4000" kern="0" spc="-1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onst {</a:t>
            </a:r>
            <a:r>
              <a:rPr sz="4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         </a:t>
            </a:r>
            <a:r>
              <a:rPr sz="41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return(x*other.x+y*othe</a:t>
            </a:r>
            <a:r>
              <a:rPr sz="41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r.y);</a:t>
            </a:r>
            <a:endParaRPr sz="4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6000"/>
              </a:lnSpc>
              <a:spcBef>
                <a:spcPts val="1175"/>
              </a:spcBef>
            </a:pPr>
            <a:r>
              <a:rPr sz="3900" kern="0" spc="-1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Vector2D Ve</a:t>
            </a:r>
            <a:r>
              <a:rPr sz="3900" kern="0" spc="-1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ctor2D::</a:t>
            </a:r>
            <a:r>
              <a:rPr sz="3900" kern="0" spc="-130" dirty="0">
                <a:solidFill>
                  <a:srgbClr val="000000">
                    <a:alpha val="100000"/>
                  </a:srgbClr>
                </a:solidFill>
                <a:highlight>
                  <a:srgbClr val="FFFF00"/>
                </a:highlight>
                <a:latin typeface="Arial" panose="020B0604020202020204"/>
                <a:ea typeface="Arial" panose="020B0604020202020204"/>
                <a:cs typeface="Arial" panose="020B0604020202020204"/>
              </a:rPr>
              <a:t>normalize</a:t>
            </a:r>
            <a:r>
              <a:rPr sz="3900" kern="0" spc="-1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()const{</a:t>
            </a:r>
            <a:endParaRPr sz="39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18515" algn="l" rtl="0" eaLnBrk="0">
              <a:lnSpc>
                <a:spcPct val="82000"/>
              </a:lnSpc>
              <a:spcBef>
                <a:spcPts val="305"/>
              </a:spcBef>
            </a:pPr>
            <a:r>
              <a:rPr sz="4100" kern="0" spc="-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float</a:t>
            </a:r>
            <a:r>
              <a:rPr sz="4100" kern="0" spc="10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4100" kern="0" spc="-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len</a:t>
            </a:r>
            <a:r>
              <a:rPr sz="4100" kern="0" spc="9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4100" kern="0" spc="-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=length(</a:t>
            </a:r>
            <a:r>
              <a:rPr sz="4100" kern="0" spc="-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);</a:t>
            </a:r>
            <a:endParaRPr sz="4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18515" algn="l" rtl="0" eaLnBrk="0">
              <a:lnSpc>
                <a:spcPct val="99000"/>
              </a:lnSpc>
              <a:spcBef>
                <a:spcPts val="25"/>
              </a:spcBef>
            </a:pPr>
            <a:r>
              <a:rPr sz="41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if(len</a:t>
            </a:r>
            <a:r>
              <a:rPr sz="4100" kern="0" spc="3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41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!=0)return  Vector2D(x/len,y/l</a:t>
            </a:r>
            <a:r>
              <a:rPr sz="41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en);</a:t>
            </a:r>
            <a:endParaRPr sz="41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2" name="textbox 32"/>
          <p:cNvSpPr/>
          <p:nvPr/>
        </p:nvSpPr>
        <p:spPr>
          <a:xfrm>
            <a:off x="1447739" y="1917658"/>
            <a:ext cx="14991714" cy="10191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1000"/>
              </a:lnSpc>
              <a:spcBef>
                <a:spcPts val="0"/>
              </a:spcBef>
            </a:pPr>
            <a:r>
              <a:rPr sz="8000" b="1" kern="0" spc="-90" dirty="0">
                <a:solidFill>
                  <a:srgbClr val="204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Fondations:La Classe Vector2D</a:t>
            </a:r>
            <a:endParaRPr sz="8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4" name="textbox 34"/>
          <p:cNvSpPr/>
          <p:nvPr/>
        </p:nvSpPr>
        <p:spPr>
          <a:xfrm>
            <a:off x="18148179" y="10621345"/>
            <a:ext cx="5746115" cy="7353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5590"/>
              </a:lnSpc>
            </a:pPr>
            <a:r>
              <a:rPr sz="4100" kern="0" spc="-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return Vector2D</a:t>
            </a:r>
            <a:r>
              <a:rPr sz="4100" kern="0" spc="-1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(0.0f,0.0f);</a:t>
            </a:r>
            <a:endParaRPr sz="41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460438" y="3155960"/>
            <a:ext cx="29521218" cy="57058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9915" y="11078845"/>
            <a:ext cx="9315450" cy="71386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4130" y="1155700"/>
            <a:ext cx="32839025" cy="159772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6821150" y="4286250"/>
            <a:ext cx="14090650" cy="8144510"/>
          </a:xfrm>
          <a:prstGeom prst="rect">
            <a:avLst/>
          </a:prstGeom>
        </p:spPr>
      </p:pic>
      <p:sp>
        <p:nvSpPr>
          <p:cNvPr id="48" name="textbox 48"/>
          <p:cNvSpPr/>
          <p:nvPr/>
        </p:nvSpPr>
        <p:spPr>
          <a:xfrm>
            <a:off x="1466921" y="4135524"/>
            <a:ext cx="12510769" cy="59207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8870"/>
              </a:lnSpc>
            </a:pPr>
            <a:r>
              <a:rPr sz="6200" b="1" kern="0" spc="-240" dirty="0">
                <a:solidFill>
                  <a:srgbClr val="207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Intégration d'Euler</a:t>
            </a:r>
            <a:endParaRPr sz="6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5180"/>
              </a:lnSpc>
              <a:spcBef>
                <a:spcPts val="1145"/>
              </a:spcBef>
            </a:pPr>
            <a:r>
              <a:rPr sz="3800" kern="0" spc="-3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Utilisation</a:t>
            </a:r>
            <a:r>
              <a:rPr sz="3800" kern="0" spc="59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800" kern="0" spc="-3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d'un</a:t>
            </a:r>
            <a:r>
              <a:rPr sz="3800" kern="0" spc="72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800" kern="0" spc="-3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modèle</a:t>
            </a:r>
            <a:r>
              <a:rPr sz="3800" kern="0" spc="59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800" kern="0" spc="-3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</a:t>
            </a:r>
            <a:r>
              <a:rPr sz="3800" kern="0" spc="50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800" kern="0" spc="-3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friction</a:t>
            </a:r>
            <a:r>
              <a:rPr sz="3800" kern="0" spc="71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800" kern="0" spc="-3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</a:t>
            </a:r>
            <a:r>
              <a:rPr sz="3800" kern="0" spc="-4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inéaire</a:t>
            </a:r>
            <a:r>
              <a:rPr sz="3800" kern="0" spc="72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800" kern="0" spc="-4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pour</a:t>
            </a:r>
            <a:r>
              <a:rPr sz="3800" kern="0" spc="53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800" kern="0" spc="-4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simuler</a:t>
            </a:r>
            <a:r>
              <a:rPr sz="3800" kern="0" spc="66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800" kern="0" spc="-4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la</a:t>
            </a:r>
            <a:endParaRPr sz="3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5180"/>
              </a:lnSpc>
              <a:spcBef>
                <a:spcPts val="1420"/>
              </a:spcBef>
            </a:pPr>
            <a:r>
              <a:rPr sz="3800" kern="0" spc="-30" dirty="0">
                <a:solidFill>
                  <a:srgbClr val="30607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résistance</a:t>
            </a:r>
            <a:r>
              <a:rPr sz="3800" kern="0" spc="280" dirty="0">
                <a:solidFill>
                  <a:srgbClr val="30607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800" kern="0" spc="-30" dirty="0">
                <a:solidFill>
                  <a:srgbClr val="30607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du tapis</a:t>
            </a:r>
            <a:r>
              <a:rPr sz="3800" kern="0" spc="230" dirty="0">
                <a:solidFill>
                  <a:srgbClr val="30607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800" kern="0" spc="-30" dirty="0">
                <a:solidFill>
                  <a:srgbClr val="30607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sur</a:t>
            </a:r>
            <a:r>
              <a:rPr sz="3800" kern="0" spc="310" dirty="0">
                <a:solidFill>
                  <a:srgbClr val="30607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800" kern="0" spc="-30" dirty="0">
                <a:solidFill>
                  <a:srgbClr val="30607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les</a:t>
            </a:r>
            <a:r>
              <a:rPr sz="3800" kern="0" spc="370" dirty="0">
                <a:solidFill>
                  <a:srgbClr val="30607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800" kern="0" spc="-30" dirty="0">
                <a:solidFill>
                  <a:srgbClr val="30607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billes.</a:t>
            </a:r>
            <a:endParaRPr sz="3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14350" algn="l" rtl="0" eaLnBrk="0">
              <a:lnSpc>
                <a:spcPts val="5180"/>
              </a:lnSpc>
              <a:spcBef>
                <a:spcPts val="1145"/>
              </a:spcBef>
            </a:pPr>
            <a:r>
              <a:rPr sz="3800" kern="0" spc="-2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●  Défectuosité:Évite</a:t>
            </a:r>
            <a:r>
              <a:rPr sz="3800" kern="0" spc="20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3800" kern="0" spc="-2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leglissemen</a:t>
            </a:r>
            <a:r>
              <a:rPr sz="3800" kern="0" spc="-3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</a:t>
            </a:r>
            <a:r>
              <a:rPr sz="3800" kern="0" spc="20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3800" kern="0" spc="-3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infini</a:t>
            </a:r>
            <a:r>
              <a:rPr sz="3800" kern="0" spc="15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3800" kern="0" spc="-3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des</a:t>
            </a:r>
            <a:r>
              <a:rPr sz="3800" kern="0" spc="21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3800" kern="0" spc="-3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modèles</a:t>
            </a:r>
            <a:endParaRPr sz="3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028700" algn="l" rtl="0" eaLnBrk="0">
              <a:lnSpc>
                <a:spcPts val="5180"/>
              </a:lnSpc>
              <a:spcBef>
                <a:spcPts val="1915"/>
              </a:spcBef>
            </a:pPr>
            <a:r>
              <a:rPr sz="3800" kern="0" spc="-20" dirty="0">
                <a:solidFill>
                  <a:srgbClr val="20607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exponentiels.</a:t>
            </a:r>
            <a:endParaRPr sz="3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14350" algn="l" rtl="0" eaLnBrk="0">
              <a:lnSpc>
                <a:spcPts val="5180"/>
              </a:lnSpc>
              <a:spcBef>
                <a:spcPts val="720"/>
              </a:spcBef>
            </a:pPr>
            <a:r>
              <a:rPr sz="3800" kern="0" spc="-2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●  Décélération:Constante  de   120.0f  par  seconde</a:t>
            </a:r>
            <a:r>
              <a:rPr sz="3800" kern="0" spc="-3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.</a:t>
            </a:r>
            <a:endParaRPr sz="38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0" name="textbox 50"/>
          <p:cNvSpPr/>
          <p:nvPr/>
        </p:nvSpPr>
        <p:spPr>
          <a:xfrm>
            <a:off x="17244089" y="4907689"/>
            <a:ext cx="10069830" cy="61887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5180"/>
              </a:lnSpc>
            </a:pPr>
            <a:r>
              <a:rPr sz="38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1/Boule.cpp -Mise à jour cinématique</a:t>
            </a:r>
            <a:endParaRPr sz="3800" kern="0" spc="-10" dirty="0">
              <a:solidFill>
                <a:srgbClr val="00000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spcBef>
                <a:spcPts val="485"/>
              </a:spcBef>
            </a:pPr>
            <a:r>
              <a:rPr sz="38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position     =position     +(velocity*dt);</a:t>
            </a:r>
            <a:endParaRPr sz="3800" kern="0" spc="-10" dirty="0">
              <a:solidFill>
                <a:srgbClr val="00000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4590"/>
              </a:lnSpc>
              <a:spcBef>
                <a:spcPts val="1050"/>
              </a:spcBef>
            </a:pPr>
            <a:r>
              <a:rPr sz="38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float    speed    =velocity.length();</a:t>
            </a:r>
            <a:endParaRPr sz="3800" kern="0" spc="-10" dirty="0">
              <a:solidFill>
                <a:srgbClr val="00000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3565"/>
              </a:lnSpc>
            </a:pPr>
            <a:r>
              <a:rPr sz="38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if(speed&gt;0.0f){</a:t>
            </a:r>
            <a:endParaRPr sz="3800" kern="0" spc="-10" dirty="0">
              <a:solidFill>
                <a:srgbClr val="00000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37565" algn="l" rtl="0" eaLnBrk="0">
              <a:lnSpc>
                <a:spcPct val="96000"/>
              </a:lnSpc>
              <a:spcBef>
                <a:spcPts val="0"/>
              </a:spcBef>
            </a:pPr>
            <a:r>
              <a:rPr sz="3800" kern="0" spc="-10" dirty="0">
                <a:solidFill>
                  <a:srgbClr val="000000">
                    <a:alpha val="100000"/>
                  </a:srgbClr>
                </a:solidFill>
                <a:highlight>
                  <a:srgbClr val="FFFF00"/>
                </a:highlight>
                <a:latin typeface="Arial" panose="020B0604020202020204"/>
                <a:ea typeface="Arial" panose="020B0604020202020204"/>
                <a:cs typeface="Arial" panose="020B0604020202020204"/>
              </a:rPr>
              <a:t>float     deceleration     =120.0f*dt;</a:t>
            </a:r>
            <a:endParaRPr sz="3800" kern="0" spc="-10" dirty="0">
              <a:solidFill>
                <a:srgbClr val="000000">
                  <a:alpha val="100000"/>
                </a:srgbClr>
              </a:solidFill>
              <a:highlight>
                <a:srgbClr val="FFFF00"/>
              </a:highlight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37565" algn="l" rtl="0" eaLnBrk="0">
              <a:lnSpc>
                <a:spcPts val="4760"/>
              </a:lnSpc>
            </a:pPr>
            <a:r>
              <a:rPr sz="38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float newSpeed =speed -deceleration;</a:t>
            </a:r>
            <a:endParaRPr sz="3800" kern="0" spc="-10" dirty="0">
              <a:solidFill>
                <a:srgbClr val="00000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37565" algn="l" rtl="0" eaLnBrk="0">
              <a:lnSpc>
                <a:spcPts val="3385"/>
              </a:lnSpc>
              <a:spcBef>
                <a:spcPts val="850"/>
              </a:spcBef>
            </a:pPr>
            <a:r>
              <a:rPr sz="38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if(</a:t>
            </a:r>
            <a:r>
              <a:rPr sz="3800" kern="0" spc="-10" dirty="0">
                <a:solidFill>
                  <a:srgbClr val="000000">
                    <a:alpha val="100000"/>
                  </a:srgbClr>
                </a:solidFill>
                <a:highlight>
                  <a:srgbClr val="FFFF00"/>
                </a:highlight>
                <a:latin typeface="Arial" panose="020B0604020202020204"/>
                <a:ea typeface="Arial" panose="020B0604020202020204"/>
                <a:cs typeface="Arial" panose="020B0604020202020204"/>
              </a:rPr>
              <a:t>newSpeed               &lt;=0.0f</a:t>
            </a:r>
            <a:r>
              <a:rPr sz="38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){</a:t>
            </a:r>
            <a:endParaRPr sz="3800" kern="0" spc="-10" dirty="0">
              <a:solidFill>
                <a:srgbClr val="00000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618615" algn="l" rtl="0" eaLnBrk="0">
              <a:lnSpc>
                <a:spcPts val="4730"/>
              </a:lnSpc>
            </a:pPr>
            <a:r>
              <a:rPr sz="38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velocity</a:t>
            </a:r>
            <a:r>
              <a:rPr sz="38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=Vector2D(0,0);</a:t>
            </a:r>
            <a:endParaRPr sz="3800" kern="0" spc="-10" dirty="0">
              <a:solidFill>
                <a:srgbClr val="00000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37565" algn="l" rtl="0" eaLnBrk="0">
              <a:lnSpc>
                <a:spcPct val="70000"/>
              </a:lnSpc>
              <a:spcBef>
                <a:spcPts val="15"/>
              </a:spcBef>
            </a:pPr>
            <a:r>
              <a:rPr sz="38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}else{</a:t>
            </a:r>
            <a:endParaRPr sz="3800" kern="0" spc="-10" dirty="0">
              <a:solidFill>
                <a:srgbClr val="00000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4860"/>
              </a:lnSpc>
            </a:pPr>
            <a:r>
              <a:rPr sz="38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velocity  =velocity*(newSpeed  /speed);</a:t>
            </a:r>
            <a:endParaRPr sz="3800" kern="0" spc="-10" dirty="0">
              <a:solidFill>
                <a:srgbClr val="00000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2" name="textbox 52"/>
          <p:cNvSpPr/>
          <p:nvPr/>
        </p:nvSpPr>
        <p:spPr>
          <a:xfrm>
            <a:off x="1466920" y="1722237"/>
            <a:ext cx="18923000" cy="11239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2000"/>
              </a:lnSpc>
            </a:pPr>
            <a:r>
              <a:rPr sz="8800" b="1" kern="0" spc="-390" dirty="0">
                <a:solidFill>
                  <a:srgbClr val="204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Physi</a:t>
            </a:r>
            <a:r>
              <a:rPr sz="8800" b="1" kern="0" spc="-380" dirty="0">
                <a:solidFill>
                  <a:srgbClr val="204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que:Intégration&amp;Friction</a:t>
            </a:r>
            <a:r>
              <a:rPr sz="8800" b="1" kern="0" spc="410" dirty="0">
                <a:solidFill>
                  <a:srgbClr val="204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8800" b="1" kern="0" spc="-380" dirty="0">
                <a:solidFill>
                  <a:srgbClr val="204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Linéair</a:t>
            </a:r>
            <a:r>
              <a:rPr sz="8800" b="1" kern="0" spc="-330" dirty="0">
                <a:solidFill>
                  <a:srgbClr val="204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</a:t>
            </a:r>
            <a:endParaRPr sz="88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54" name="picture 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441582" y="3174979"/>
            <a:ext cx="29559259" cy="19018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6850" y="10056495"/>
            <a:ext cx="14179550" cy="774128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3060" y="767715"/>
            <a:ext cx="30516195" cy="1675257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21600000">
            <a:off x="16764162" y="4286341"/>
            <a:ext cx="14185900" cy="6445250"/>
            <a:chOff x="0" y="0"/>
            <a:chExt cx="14185900" cy="6445250"/>
          </a:xfrm>
        </p:grpSpPr>
        <p:sp>
          <p:nvSpPr>
            <p:cNvPr id="64" name="textbox 64"/>
            <p:cNvSpPr/>
            <p:nvPr/>
          </p:nvSpPr>
          <p:spPr>
            <a:xfrm>
              <a:off x="0" y="0"/>
              <a:ext cx="14185900" cy="6445250"/>
            </a:xfrm>
            <a:prstGeom prst="rect">
              <a:avLst/>
            </a:prstGeom>
            <a:solidFill>
              <a:srgbClr val="F2F6F6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3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3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589915" algn="l" rtl="0" eaLnBrk="0">
                <a:lnSpc>
                  <a:spcPts val="4490"/>
                </a:lnSpc>
                <a:spcBef>
                  <a:spcPts val="5"/>
                </a:spcBef>
              </a:pPr>
              <a:endParaRPr sz="35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68" name="textbox 68"/>
            <p:cNvSpPr/>
            <p:nvPr/>
          </p:nvSpPr>
          <p:spPr>
            <a:xfrm>
              <a:off x="480695" y="541020"/>
              <a:ext cx="11223625" cy="553847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3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107000"/>
                </a:lnSpc>
              </a:pPr>
              <a:r>
                <a:rPr lang="en-US" altLang="zh-CN" sz="3500" dirty="0">
                  <a:latin typeface="Arial" panose="020B0604020202020204"/>
                  <a:ea typeface="Arial" panose="020B0604020202020204"/>
                  <a:cs typeface="Arial" panose="020B0604020202020204"/>
                </a:rPr>
                <a:t>// Boule.cpp - R</a:t>
              </a:r>
              <a:r>
                <a:rPr lang="en-US" altLang="en-US" sz="3500" dirty="0">
                  <a:latin typeface="Arial" panose="020B0604020202020204"/>
                  <a:ea typeface="Arial" panose="020B0604020202020204"/>
                  <a:cs typeface="Arial" panose="020B0604020202020204"/>
                </a:rPr>
                <a:t>é</a:t>
              </a:r>
              <a:r>
                <a:rPr lang="en-US" altLang="zh-CN" sz="3500" dirty="0">
                  <a:latin typeface="Arial" panose="020B0604020202020204"/>
                  <a:ea typeface="Arial" panose="020B0604020202020204"/>
                  <a:cs typeface="Arial" panose="020B0604020202020204"/>
                </a:rPr>
                <a:t>solution de collision </a:t>
              </a:r>
              <a:endParaRPr lang="en-US" altLang="zh-CN" sz="35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107000"/>
                </a:lnSpc>
              </a:pPr>
              <a:r>
                <a:rPr lang="en-US" altLang="zh-CN" sz="3500" dirty="0">
                  <a:latin typeface="Arial" panose="020B0604020202020204"/>
                  <a:ea typeface="Arial" panose="020B0604020202020204"/>
                  <a:cs typeface="Arial" panose="020B0604020202020204"/>
                </a:rPr>
                <a:t>float velocityAlongNormal = relativeVelocity.dot(n); </a:t>
              </a:r>
              <a:endParaRPr lang="en-US" altLang="zh-CN" sz="35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107000"/>
                </a:lnSpc>
              </a:pPr>
              <a:r>
                <a:rPr lang="en-US" altLang="zh-CN" sz="3500" dirty="0">
                  <a:latin typeface="Arial" panose="020B0604020202020204"/>
                  <a:ea typeface="Arial" panose="020B0604020202020204"/>
                  <a:cs typeface="Arial" panose="020B0604020202020204"/>
                </a:rPr>
                <a:t>if (velocityAlongNormal &gt; 0) return; </a:t>
              </a:r>
              <a:endParaRPr lang="en-US" altLang="zh-CN" sz="35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107000"/>
                </a:lnSpc>
              </a:pPr>
              <a:r>
                <a:rPr lang="en-US" altLang="zh-CN" sz="3500" dirty="0">
                  <a:latin typeface="Arial" panose="020B0604020202020204"/>
                  <a:ea typeface="Arial" panose="020B0604020202020204"/>
                  <a:cs typeface="Arial" panose="020B0604020202020204"/>
                </a:rPr>
                <a:t>float e = 1.0f;</a:t>
              </a:r>
              <a:endParaRPr lang="en-US" altLang="zh-CN" sz="35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107000"/>
                </a:lnSpc>
              </a:pPr>
              <a:r>
                <a:rPr lang="en-US" altLang="zh-CN" sz="3500" dirty="0">
                  <a:highlight>
                    <a:srgbClr val="FFFF00"/>
                  </a:highlight>
                  <a:latin typeface="Arial" panose="020B0604020202020204"/>
                  <a:ea typeface="Arial" panose="020B0604020202020204"/>
                  <a:cs typeface="Arial" panose="020B0604020202020204"/>
                </a:rPr>
                <a:t>float j = -(1.0f + e) * velocityAlongNormal; </a:t>
              </a:r>
              <a:endParaRPr lang="en-US" altLang="zh-CN" sz="3500" dirty="0">
                <a:highlight>
                  <a:srgbClr val="FFFF00"/>
                </a:highlight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107000"/>
                </a:lnSpc>
              </a:pPr>
              <a:r>
                <a:rPr lang="en-US" altLang="zh-CN" sz="3500" dirty="0">
                  <a:latin typeface="Arial" panose="020B0604020202020204"/>
                  <a:ea typeface="Arial" panose="020B0604020202020204"/>
                  <a:cs typeface="Arial" panose="020B0604020202020204"/>
                </a:rPr>
                <a:t>j /= (1.0f/this-&gt;mass + 1.0f/other.mass); </a:t>
              </a:r>
              <a:endParaRPr lang="en-US" altLang="zh-CN" sz="35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107000"/>
                </a:lnSpc>
              </a:pPr>
              <a:r>
                <a:rPr lang="en-US" altLang="zh-CN" sz="3500" dirty="0">
                  <a:latin typeface="Arial" panose="020B0604020202020204"/>
                  <a:ea typeface="Arial" panose="020B0604020202020204"/>
                  <a:cs typeface="Arial" panose="020B0604020202020204"/>
                </a:rPr>
                <a:t>Vector2D impulse = n * j; </a:t>
              </a:r>
              <a:endParaRPr lang="en-US" altLang="zh-CN" sz="35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107000"/>
                </a:lnSpc>
              </a:pPr>
              <a:r>
                <a:rPr lang="en-US" altLang="zh-CN" sz="3500" dirty="0">
                  <a:latin typeface="Arial" panose="020B0604020202020204"/>
                  <a:ea typeface="Arial" panose="020B0604020202020204"/>
                  <a:cs typeface="Arial" panose="020B0604020202020204"/>
                </a:rPr>
                <a:t>this-&gt;velocity = this-&gt;velocity + (impulse * (1.0f/mass)); other.velocity = other.velocity - (impulse * (1.0f/mass));</a:t>
              </a:r>
              <a:endParaRPr lang="en-US" altLang="zh-CN" sz="35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70" name="textbox 70"/>
          <p:cNvSpPr/>
          <p:nvPr/>
        </p:nvSpPr>
        <p:spPr>
          <a:xfrm>
            <a:off x="1466921" y="4463991"/>
            <a:ext cx="13742035" cy="56330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1000"/>
              </a:lnSpc>
              <a:spcBef>
                <a:spcPts val="0"/>
              </a:spcBef>
            </a:pPr>
            <a:r>
              <a:rPr sz="6200" b="1" kern="0" spc="-250" dirty="0">
                <a:solidFill>
                  <a:srgbClr val="208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Loide Conservation</a:t>
            </a:r>
            <a:endParaRPr sz="6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9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5385"/>
              </a:lnSpc>
              <a:spcBef>
                <a:spcPts val="1175"/>
              </a:spcBef>
            </a:pPr>
            <a:r>
              <a:rPr sz="3900" kern="0" spc="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Gestion</a:t>
            </a:r>
            <a:r>
              <a:rPr sz="3900" kern="0" spc="12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900" kern="0" spc="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des</a:t>
            </a:r>
            <a:r>
              <a:rPr sz="3900" kern="0" spc="12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900" kern="0" spc="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chocs</a:t>
            </a:r>
            <a:r>
              <a:rPr sz="3900" kern="0" spc="39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900" kern="0" spc="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bille</a:t>
            </a:r>
            <a:r>
              <a:rPr sz="3900" kern="0" spc="12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-</a:t>
            </a:r>
            <a:r>
              <a:rPr sz="3900" kern="0" spc="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contre</a:t>
            </a:r>
            <a:r>
              <a:rPr sz="3900" kern="0" spc="12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-</a:t>
            </a:r>
            <a:r>
              <a:rPr sz="3900" kern="0" spc="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bille</a:t>
            </a:r>
            <a:r>
              <a:rPr sz="3900" kern="0" spc="12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900" kern="0" spc="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viale</a:t>
            </a:r>
            <a:r>
              <a:rPr sz="3900" kern="0" spc="12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900" kern="0" spc="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transfert</a:t>
            </a:r>
            <a:r>
              <a:rPr sz="3900" kern="0" spc="24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900" kern="0" spc="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</a:t>
            </a:r>
            <a:r>
              <a:rPr sz="3900" kern="0" spc="12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'</a:t>
            </a:r>
            <a:r>
              <a:rPr sz="3900" kern="0" spc="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impulsion</a:t>
            </a:r>
            <a:endParaRPr sz="39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5385"/>
              </a:lnSpc>
              <a:spcBef>
                <a:spcPts val="1955"/>
              </a:spcBef>
            </a:pPr>
            <a:r>
              <a:rPr sz="3900" kern="0" spc="-10" dirty="0">
                <a:solidFill>
                  <a:srgbClr val="20607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sur</a:t>
            </a:r>
            <a:r>
              <a:rPr sz="3900" kern="0" spc="570" dirty="0">
                <a:solidFill>
                  <a:srgbClr val="20607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900" kern="0" spc="-10" dirty="0">
                <a:solidFill>
                  <a:srgbClr val="20607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levecteur</a:t>
            </a:r>
            <a:r>
              <a:rPr sz="3900" kern="0" spc="560" dirty="0">
                <a:solidFill>
                  <a:srgbClr val="20607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900" kern="0" spc="-10" dirty="0">
                <a:solidFill>
                  <a:srgbClr val="20607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normal.</a:t>
            </a:r>
            <a:endParaRPr sz="39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4770"/>
              </a:lnSpc>
              <a:spcBef>
                <a:spcPts val="1060"/>
              </a:spcBef>
            </a:pPr>
            <a:r>
              <a:rPr sz="3500" kern="0" spc="-10" dirty="0">
                <a:solidFill>
                  <a:srgbClr val="2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●   Dot   Product:Calc</a:t>
            </a:r>
            <a:r>
              <a:rPr sz="3500" kern="0" spc="-20" dirty="0">
                <a:solidFill>
                  <a:srgbClr val="2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ul   dela   composante   de   vitesse</a:t>
            </a:r>
            <a:r>
              <a:rPr sz="3500" kern="0" spc="50" dirty="0">
                <a:solidFill>
                  <a:srgbClr val="2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</a:t>
            </a:r>
            <a:r>
              <a:rPr sz="3500" kern="0" spc="-20" dirty="0">
                <a:solidFill>
                  <a:srgbClr val="2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normale.</a:t>
            </a:r>
            <a:endParaRPr sz="3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32765" algn="l" rtl="0" eaLnBrk="0">
              <a:lnSpc>
                <a:spcPts val="4770"/>
              </a:lnSpc>
              <a:spcBef>
                <a:spcPts val="1090"/>
              </a:spcBef>
            </a:pPr>
            <a:r>
              <a:rPr sz="3500" kern="0" spc="-20" dirty="0">
                <a:solidFill>
                  <a:srgbClr val="2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●   Impulsion</a:t>
            </a:r>
            <a:r>
              <a:rPr sz="3500" kern="0" spc="110" dirty="0">
                <a:solidFill>
                  <a:srgbClr val="2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</a:t>
            </a:r>
            <a:r>
              <a:rPr sz="3500" kern="0" spc="-20" dirty="0">
                <a:solidFill>
                  <a:srgbClr val="2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(j):Calculée</a:t>
            </a:r>
            <a:r>
              <a:rPr sz="3500" kern="0" spc="110" dirty="0">
                <a:solidFill>
                  <a:srgbClr val="2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</a:t>
            </a:r>
            <a:r>
              <a:rPr sz="3500" kern="0" spc="-30" dirty="0">
                <a:solidFill>
                  <a:srgbClr val="2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pour</a:t>
            </a:r>
            <a:r>
              <a:rPr sz="3500" kern="0" spc="100" dirty="0">
                <a:solidFill>
                  <a:srgbClr val="2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</a:t>
            </a:r>
            <a:r>
              <a:rPr sz="3500" kern="0" spc="-30" dirty="0">
                <a:solidFill>
                  <a:srgbClr val="2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une</a:t>
            </a:r>
            <a:r>
              <a:rPr sz="3500" kern="0" spc="90" dirty="0">
                <a:solidFill>
                  <a:srgbClr val="2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</a:t>
            </a:r>
            <a:r>
              <a:rPr sz="3500" kern="0" spc="-30" dirty="0">
                <a:solidFill>
                  <a:srgbClr val="2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collision</a:t>
            </a:r>
            <a:r>
              <a:rPr sz="3500" kern="0" spc="110" dirty="0">
                <a:solidFill>
                  <a:srgbClr val="2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</a:t>
            </a:r>
            <a:r>
              <a:rPr sz="3500" kern="0" spc="-30" dirty="0">
                <a:solidFill>
                  <a:srgbClr val="2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parfaitement</a:t>
            </a:r>
            <a:endParaRPr sz="3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028065" algn="l" rtl="0" eaLnBrk="0">
              <a:lnSpc>
                <a:spcPts val="4770"/>
              </a:lnSpc>
              <a:spcBef>
                <a:spcPts val="5"/>
              </a:spcBef>
            </a:pPr>
            <a:r>
              <a:rPr sz="3500" kern="0" spc="10" dirty="0">
                <a:solidFill>
                  <a:srgbClr val="20607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é</a:t>
            </a:r>
            <a:r>
              <a:rPr sz="3500" kern="0" spc="0" dirty="0">
                <a:solidFill>
                  <a:srgbClr val="20607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lastique</a:t>
            </a:r>
            <a:r>
              <a:rPr sz="3500" kern="0" spc="10" dirty="0">
                <a:solidFill>
                  <a:srgbClr val="20607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(e=1.0).</a:t>
            </a:r>
            <a:endParaRPr sz="35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2" name="textbox 72"/>
          <p:cNvSpPr/>
          <p:nvPr/>
        </p:nvSpPr>
        <p:spPr>
          <a:xfrm>
            <a:off x="1466920" y="1715695"/>
            <a:ext cx="14115414" cy="10934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1000"/>
              </a:lnSpc>
              <a:spcBef>
                <a:spcPts val="0"/>
              </a:spcBef>
            </a:pPr>
            <a:r>
              <a:rPr sz="8600" b="1" kern="0" spc="-360" dirty="0">
                <a:solidFill>
                  <a:srgbClr val="204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Coll</a:t>
            </a:r>
            <a:r>
              <a:rPr sz="8600" b="1" kern="0" spc="-350" dirty="0">
                <a:solidFill>
                  <a:srgbClr val="204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ision:Impul</a:t>
            </a:r>
            <a:r>
              <a:rPr sz="8600" b="1" kern="0" spc="-360" dirty="0">
                <a:solidFill>
                  <a:srgbClr val="204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sion</a:t>
            </a:r>
            <a:r>
              <a:rPr sz="8600" b="1" kern="0" spc="390" dirty="0">
                <a:solidFill>
                  <a:srgbClr val="204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8600" b="1" kern="0" spc="-360" dirty="0">
                <a:solidFill>
                  <a:srgbClr val="204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Elastiqu</a:t>
            </a:r>
            <a:r>
              <a:rPr sz="8600" b="1" kern="0" spc="-320" dirty="0">
                <a:solidFill>
                  <a:srgbClr val="204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</a:t>
            </a:r>
            <a:endParaRPr sz="86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74" name="picture 7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441582" y="3174979"/>
            <a:ext cx="29559259" cy="19018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4200" y="10074275"/>
            <a:ext cx="9477375" cy="36499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box 76"/>
          <p:cNvSpPr/>
          <p:nvPr/>
        </p:nvSpPr>
        <p:spPr>
          <a:xfrm>
            <a:off x="1466921" y="4426404"/>
            <a:ext cx="14172564" cy="56730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1000"/>
              </a:lnSpc>
            </a:pPr>
            <a:r>
              <a:rPr sz="6200" b="1" kern="0" spc="-220" dirty="0">
                <a:solidFill>
                  <a:srgbClr val="207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Stabilité Geométrique</a:t>
            </a:r>
            <a:endParaRPr sz="6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4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5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4975"/>
              </a:lnSpc>
              <a:spcBef>
                <a:spcPts val="1080"/>
              </a:spcBef>
            </a:pPr>
            <a:r>
              <a:rPr sz="3600" kern="0" spc="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Pour</a:t>
            </a:r>
            <a:r>
              <a:rPr sz="3600" kern="0" spc="86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600" kern="0" spc="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éviter</a:t>
            </a:r>
            <a:r>
              <a:rPr sz="3600" kern="0" spc="85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600" kern="0" spc="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que  les  bi</a:t>
            </a:r>
            <a:r>
              <a:rPr sz="3600" kern="0" spc="-1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lles  nerestent  "collées"à</a:t>
            </a:r>
            <a:r>
              <a:rPr sz="3600" kern="0" spc="92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600" kern="0" spc="-1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cause</a:t>
            </a:r>
            <a:r>
              <a:rPr sz="3600" kern="0" spc="90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600" kern="0" spc="-1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des</a:t>
            </a:r>
            <a:r>
              <a:rPr sz="3600" kern="0" spc="91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600" kern="0" spc="-1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arrondis</a:t>
            </a:r>
            <a:endParaRPr sz="3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6450"/>
              </a:lnSpc>
            </a:pPr>
            <a:r>
              <a:rPr sz="3600" kern="0" spc="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flottants</a:t>
            </a:r>
            <a:r>
              <a:rPr sz="3600" kern="0" spc="9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,</a:t>
            </a:r>
            <a:r>
              <a:rPr sz="3600" kern="0" spc="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une</a:t>
            </a:r>
            <a:r>
              <a:rPr sz="3600" kern="0" spc="41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3600" kern="0" spc="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correction</a:t>
            </a:r>
            <a:r>
              <a:rPr sz="3600" kern="0" spc="38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3600" kern="0" spc="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statique</a:t>
            </a:r>
            <a:r>
              <a:rPr sz="3600" kern="0" spc="39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3600" kern="0" spc="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est</a:t>
            </a:r>
            <a:r>
              <a:rPr sz="3600" kern="0" spc="38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3600" kern="0" spc="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appliqu</a:t>
            </a:r>
            <a:r>
              <a:rPr sz="3600" kern="0" spc="9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ée.</a:t>
            </a:r>
            <a:endParaRPr sz="3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14350" algn="l" rtl="0" eaLnBrk="0">
              <a:lnSpc>
                <a:spcPts val="5725"/>
              </a:lnSpc>
              <a:spcBef>
                <a:spcPts val="1270"/>
              </a:spcBef>
            </a:pPr>
            <a:r>
              <a:rPr sz="4200" kern="0" spc="-1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·Correction:Sép</a:t>
            </a:r>
            <a:r>
              <a:rPr sz="4200" kern="0" spc="-2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aration</a:t>
            </a:r>
            <a:r>
              <a:rPr sz="4200" kern="0" spc="103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4200" kern="0" spc="-2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forcée  proportionnelleàla</a:t>
            </a:r>
            <a:endParaRPr sz="4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047115" algn="l" rtl="0" eaLnBrk="0">
              <a:lnSpc>
                <a:spcPts val="4975"/>
              </a:lnSpc>
              <a:spcBef>
                <a:spcPts val="1005"/>
              </a:spcBef>
            </a:pPr>
            <a:r>
              <a:rPr sz="3600" kern="0" spc="0" dirty="0">
                <a:solidFill>
                  <a:srgbClr val="20607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pénétration.</a:t>
            </a:r>
            <a:endParaRPr sz="3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14350" algn="l" rtl="0" eaLnBrk="0">
              <a:lnSpc>
                <a:spcPts val="4975"/>
              </a:lnSpc>
            </a:pPr>
            <a:r>
              <a:rPr sz="3600" kern="0" spc="2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●   </a:t>
            </a:r>
            <a:r>
              <a:rPr sz="3600" kern="0" spc="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Partage</a:t>
            </a:r>
            <a:r>
              <a:rPr sz="3600" kern="0" spc="2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:50%</a:t>
            </a:r>
            <a:r>
              <a:rPr sz="3600" kern="0" spc="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du</a:t>
            </a:r>
            <a:r>
              <a:rPr sz="3600" kern="0" spc="2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</a:t>
            </a:r>
            <a:r>
              <a:rPr sz="3600" kern="0" spc="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</a:t>
            </a:r>
            <a:r>
              <a:rPr sz="3600" kern="0" spc="2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é</a:t>
            </a:r>
            <a:r>
              <a:rPr sz="3600" kern="0" spc="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placement</a:t>
            </a:r>
            <a:r>
              <a:rPr sz="3600" kern="0" spc="2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</a:t>
            </a:r>
            <a:r>
              <a:rPr sz="3600" kern="0" spc="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appliqu</a:t>
            </a:r>
            <a:r>
              <a:rPr sz="3600" kern="0" spc="2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éà   </a:t>
            </a:r>
            <a:r>
              <a:rPr sz="3600" kern="0" spc="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chaque</a:t>
            </a:r>
            <a:r>
              <a:rPr sz="3600" kern="0" spc="2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</a:t>
            </a:r>
            <a:r>
              <a:rPr sz="3600" kern="0" spc="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bille</a:t>
            </a:r>
            <a:r>
              <a:rPr sz="3600" kern="0" spc="2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.</a:t>
            </a:r>
            <a:endParaRPr sz="36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8" name="textbox 78"/>
          <p:cNvSpPr/>
          <p:nvPr/>
        </p:nvSpPr>
        <p:spPr>
          <a:xfrm>
            <a:off x="16783017" y="4286341"/>
            <a:ext cx="14148435" cy="3943350"/>
          </a:xfrm>
          <a:prstGeom prst="rect">
            <a:avLst/>
          </a:prstGeom>
          <a:solidFill>
            <a:srgbClr val="F5F7F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71500" algn="l" rtl="0" eaLnBrk="0">
              <a:lnSpc>
                <a:spcPts val="4675"/>
              </a:lnSpc>
              <a:spcBef>
                <a:spcPts val="5"/>
              </a:spcBef>
            </a:pPr>
            <a:r>
              <a:rPr sz="3600" kern="0" spc="1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//</a:t>
            </a:r>
            <a:r>
              <a:rPr sz="36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Boule</a:t>
            </a:r>
            <a:r>
              <a:rPr sz="3600" kern="0" spc="1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.</a:t>
            </a:r>
            <a:r>
              <a:rPr sz="36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cpp</a:t>
            </a:r>
            <a:r>
              <a:rPr sz="3600" kern="0" spc="4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3600" kern="0" spc="1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-</a:t>
            </a:r>
            <a:r>
              <a:rPr sz="36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Correction</a:t>
            </a:r>
            <a:r>
              <a:rPr sz="3600" kern="0" spc="4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36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statique</a:t>
            </a:r>
            <a:endParaRPr sz="3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71500" algn="l" rtl="0" eaLnBrk="0">
              <a:lnSpc>
                <a:spcPct val="73000"/>
              </a:lnSpc>
              <a:spcBef>
                <a:spcPts val="515"/>
              </a:spcBef>
            </a:pPr>
            <a:r>
              <a:rPr sz="36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float</a:t>
            </a:r>
            <a:r>
              <a:rPr sz="3600" kern="0" spc="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</a:t>
            </a:r>
            <a:r>
              <a:rPr sz="36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overlap</a:t>
            </a:r>
            <a:r>
              <a:rPr sz="3600" kern="0" spc="1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</a:t>
            </a:r>
            <a:r>
              <a:rPr sz="3600" kern="0" spc="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=</a:t>
            </a:r>
            <a:r>
              <a:rPr sz="36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totalRadius</a:t>
            </a:r>
            <a:r>
              <a:rPr sz="3600" kern="0" spc="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</a:t>
            </a:r>
            <a:r>
              <a:rPr sz="3600" kern="0" spc="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-</a:t>
            </a:r>
            <a:r>
              <a:rPr sz="36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dist</a:t>
            </a:r>
            <a:r>
              <a:rPr sz="3600" kern="0" spc="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;</a:t>
            </a:r>
            <a:endParaRPr sz="3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71500" algn="l" rtl="0" eaLnBrk="0">
              <a:lnSpc>
                <a:spcPts val="4445"/>
              </a:lnSpc>
            </a:pPr>
            <a:r>
              <a:rPr sz="3600" kern="0" spc="0" dirty="0">
                <a:solidFill>
                  <a:srgbClr val="000000">
                    <a:alpha val="100000"/>
                  </a:srgbClr>
                </a:solidFill>
                <a:highlight>
                  <a:srgbClr val="FFFF00"/>
                </a:highlight>
                <a:latin typeface="Arial" panose="020B0604020202020204"/>
                <a:ea typeface="Arial" panose="020B0604020202020204"/>
                <a:cs typeface="Arial" panose="020B0604020202020204"/>
              </a:rPr>
              <a:t>Vector</a:t>
            </a:r>
            <a:r>
              <a:rPr sz="3600" kern="0" spc="60" dirty="0">
                <a:solidFill>
                  <a:srgbClr val="000000">
                    <a:alpha val="100000"/>
                  </a:srgbClr>
                </a:solidFill>
                <a:highlight>
                  <a:srgbClr val="FFFF00"/>
                </a:highlight>
                <a:latin typeface="Arial" panose="020B0604020202020204"/>
                <a:ea typeface="Arial" panose="020B0604020202020204"/>
                <a:cs typeface="Arial" panose="020B0604020202020204"/>
              </a:rPr>
              <a:t>2</a:t>
            </a:r>
            <a:r>
              <a:rPr sz="3600" kern="0" spc="0" dirty="0">
                <a:solidFill>
                  <a:srgbClr val="000000">
                    <a:alpha val="100000"/>
                  </a:srgbClr>
                </a:solidFill>
                <a:highlight>
                  <a:srgbClr val="FFFF00"/>
                </a:highlight>
                <a:latin typeface="Arial" panose="020B0604020202020204"/>
                <a:ea typeface="Arial" panose="020B0604020202020204"/>
                <a:cs typeface="Arial" panose="020B0604020202020204"/>
              </a:rPr>
              <a:t>D</a:t>
            </a:r>
            <a:r>
              <a:rPr sz="3600" kern="0" spc="60" dirty="0">
                <a:solidFill>
                  <a:srgbClr val="000000">
                    <a:alpha val="100000"/>
                  </a:srgbClr>
                </a:solidFill>
                <a:highlight>
                  <a:srgbClr val="FFFF00"/>
                </a:highlight>
                <a:latin typeface="Arial" panose="020B0604020202020204"/>
                <a:ea typeface="Arial" panose="020B0604020202020204"/>
                <a:cs typeface="Arial" panose="020B0604020202020204"/>
              </a:rPr>
              <a:t>   </a:t>
            </a:r>
            <a:r>
              <a:rPr sz="3600" kern="0" spc="0" dirty="0">
                <a:solidFill>
                  <a:srgbClr val="000000">
                    <a:alpha val="100000"/>
                  </a:srgbClr>
                </a:solidFill>
                <a:highlight>
                  <a:srgbClr val="FFFF00"/>
                </a:highlight>
                <a:latin typeface="Arial" panose="020B0604020202020204"/>
                <a:ea typeface="Arial" panose="020B0604020202020204"/>
                <a:cs typeface="Arial" panose="020B0604020202020204"/>
              </a:rPr>
              <a:t>correction</a:t>
            </a:r>
            <a:r>
              <a:rPr sz="3600" kern="0" spc="150" dirty="0">
                <a:solidFill>
                  <a:srgbClr val="000000">
                    <a:alpha val="100000"/>
                  </a:srgbClr>
                </a:solidFill>
                <a:highlight>
                  <a:srgbClr val="FFFF00"/>
                </a:highlight>
                <a:latin typeface="Arial" panose="020B0604020202020204"/>
                <a:ea typeface="Arial" panose="020B0604020202020204"/>
                <a:cs typeface="Arial" panose="020B0604020202020204"/>
              </a:rPr>
              <a:t>   </a:t>
            </a:r>
            <a:r>
              <a:rPr sz="3600" kern="0" spc="60" dirty="0">
                <a:solidFill>
                  <a:srgbClr val="000000">
                    <a:alpha val="100000"/>
                  </a:srgbClr>
                </a:solidFill>
                <a:highlight>
                  <a:srgbClr val="FFFF00"/>
                </a:highlight>
                <a:latin typeface="Arial" panose="020B0604020202020204"/>
                <a:ea typeface="Arial" panose="020B0604020202020204"/>
                <a:cs typeface="Arial" panose="020B0604020202020204"/>
              </a:rPr>
              <a:t>=n*(</a:t>
            </a:r>
            <a:r>
              <a:rPr sz="3600" kern="0" spc="0" dirty="0">
                <a:solidFill>
                  <a:srgbClr val="000000">
                    <a:alpha val="100000"/>
                  </a:srgbClr>
                </a:solidFill>
                <a:highlight>
                  <a:srgbClr val="FFFF00"/>
                </a:highlight>
                <a:latin typeface="Arial" panose="020B0604020202020204"/>
                <a:ea typeface="Arial" panose="020B0604020202020204"/>
                <a:cs typeface="Arial" panose="020B0604020202020204"/>
              </a:rPr>
              <a:t>overlap</a:t>
            </a:r>
            <a:r>
              <a:rPr sz="3600" kern="0" spc="100" dirty="0">
                <a:solidFill>
                  <a:srgbClr val="000000">
                    <a:alpha val="100000"/>
                  </a:srgbClr>
                </a:solidFill>
                <a:highlight>
                  <a:srgbClr val="FFFF00"/>
                </a:highlight>
                <a:latin typeface="Arial" panose="020B0604020202020204"/>
                <a:ea typeface="Arial" panose="020B0604020202020204"/>
                <a:cs typeface="Arial" panose="020B0604020202020204"/>
              </a:rPr>
              <a:t>   </a:t>
            </a:r>
            <a:r>
              <a:rPr sz="3600" kern="0" spc="60" dirty="0">
                <a:solidFill>
                  <a:srgbClr val="000000">
                    <a:alpha val="100000"/>
                  </a:srgbClr>
                </a:solidFill>
                <a:highlight>
                  <a:srgbClr val="FFFF00"/>
                </a:highlight>
                <a:latin typeface="Arial" panose="020B0604020202020204"/>
                <a:ea typeface="Arial" panose="020B0604020202020204"/>
                <a:cs typeface="Arial" panose="020B0604020202020204"/>
              </a:rPr>
              <a:t>/2</a:t>
            </a:r>
            <a:r>
              <a:rPr sz="3600" kern="0" spc="50" dirty="0">
                <a:solidFill>
                  <a:srgbClr val="000000">
                    <a:alpha val="100000"/>
                  </a:srgbClr>
                </a:solidFill>
                <a:highlight>
                  <a:srgbClr val="FFFF00"/>
                </a:highlight>
                <a:latin typeface="Arial" panose="020B0604020202020204"/>
                <a:ea typeface="Arial" panose="020B0604020202020204"/>
                <a:cs typeface="Arial" panose="020B0604020202020204"/>
              </a:rPr>
              <a:t>.0f);</a:t>
            </a:r>
            <a:endParaRPr sz="3600" dirty="0">
              <a:highlight>
                <a:srgbClr val="FFFF00"/>
              </a:highlight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5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71500" algn="l" rtl="0" eaLnBrk="0">
              <a:lnSpc>
                <a:spcPts val="4975"/>
              </a:lnSpc>
              <a:spcBef>
                <a:spcPts val="1080"/>
              </a:spcBef>
            </a:pPr>
            <a:r>
              <a:rPr sz="36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this</a:t>
            </a:r>
            <a:r>
              <a:rPr sz="3600" kern="0" spc="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-&gt;</a:t>
            </a:r>
            <a:r>
              <a:rPr sz="36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position</a:t>
            </a:r>
            <a:r>
              <a:rPr sz="3600" kern="0" spc="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=</a:t>
            </a:r>
            <a:r>
              <a:rPr sz="36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this</a:t>
            </a:r>
            <a:r>
              <a:rPr sz="3600" kern="0" spc="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-&gt;</a:t>
            </a:r>
            <a:r>
              <a:rPr sz="36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position</a:t>
            </a:r>
            <a:r>
              <a:rPr sz="3600" kern="0" spc="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3600" kern="0" spc="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+</a:t>
            </a:r>
            <a:r>
              <a:rPr sz="36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correction</a:t>
            </a:r>
            <a:r>
              <a:rPr sz="3600" kern="0" spc="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;</a:t>
            </a:r>
            <a:endParaRPr sz="3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71500" algn="l" rtl="0" eaLnBrk="0">
              <a:lnSpc>
                <a:spcPct val="86000"/>
              </a:lnSpc>
              <a:spcBef>
                <a:spcPts val="485"/>
              </a:spcBef>
            </a:pPr>
            <a:r>
              <a:rPr sz="36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other</a:t>
            </a:r>
            <a:r>
              <a:rPr sz="3600" kern="0" spc="1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.</a:t>
            </a:r>
            <a:r>
              <a:rPr sz="36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position</a:t>
            </a:r>
            <a:r>
              <a:rPr sz="3600" kern="0" spc="1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=</a:t>
            </a:r>
            <a:r>
              <a:rPr sz="36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other</a:t>
            </a:r>
            <a:r>
              <a:rPr sz="3600" kern="0" spc="1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.</a:t>
            </a:r>
            <a:r>
              <a:rPr sz="36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position</a:t>
            </a:r>
            <a:r>
              <a:rPr sz="3600" kern="0" spc="1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-</a:t>
            </a:r>
            <a:r>
              <a:rPr sz="36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correction</a:t>
            </a:r>
            <a:r>
              <a:rPr sz="3600" kern="0" spc="1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;</a:t>
            </a:r>
            <a:endParaRPr sz="36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0" name="textbox 80"/>
          <p:cNvSpPr/>
          <p:nvPr/>
        </p:nvSpPr>
        <p:spPr>
          <a:xfrm>
            <a:off x="1466920" y="1765141"/>
            <a:ext cx="15099030" cy="10744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2000"/>
              </a:lnSpc>
            </a:pPr>
            <a:r>
              <a:rPr sz="8400" b="1" kern="0" spc="-240" dirty="0">
                <a:solidFill>
                  <a:srgbClr val="203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Collisions:Correctio</a:t>
            </a:r>
            <a:r>
              <a:rPr sz="8400" b="1" kern="0" spc="-250" dirty="0">
                <a:solidFill>
                  <a:srgbClr val="203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 d'Overlap</a:t>
            </a:r>
            <a:endParaRPr sz="8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82" name="picture 8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441582" y="3174979"/>
            <a:ext cx="29559259" cy="19018"/>
          </a:xfrm>
          <a:prstGeom prst="rect">
            <a:avLst/>
          </a:prstGeom>
        </p:spPr>
      </p:pic>
      <p:sp>
        <p:nvSpPr>
          <p:cNvPr id="2" name="椭圆 1"/>
          <p:cNvSpPr/>
          <p:nvPr userDrawn="1"/>
        </p:nvSpPr>
        <p:spPr>
          <a:xfrm>
            <a:off x="12876530" y="10833100"/>
            <a:ext cx="4869180" cy="4735830"/>
          </a:xfrm>
          <a:prstGeom prst="ellipse">
            <a:avLst/>
          </a:prstGeom>
          <a:solidFill>
            <a:schemeClr val="accent4">
              <a:lumMod val="20000"/>
              <a:lumOff val="80000"/>
              <a:alpha val="10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3" name="椭圆 2"/>
          <p:cNvSpPr/>
          <p:nvPr userDrawn="1"/>
        </p:nvSpPr>
        <p:spPr>
          <a:xfrm>
            <a:off x="15989406" y="10779866"/>
            <a:ext cx="4709738" cy="4788986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4" name="椭圆 3"/>
          <p:cNvSpPr/>
          <p:nvPr userDrawn="1"/>
        </p:nvSpPr>
        <p:spPr>
          <a:xfrm>
            <a:off x="15151653" y="13041203"/>
            <a:ext cx="318770" cy="31940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椭圆 4"/>
          <p:cNvSpPr/>
          <p:nvPr userDrawn="1"/>
        </p:nvSpPr>
        <p:spPr>
          <a:xfrm>
            <a:off x="18185020" y="13014596"/>
            <a:ext cx="318770" cy="31940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cxnSp>
        <p:nvCxnSpPr>
          <p:cNvPr id="6" name="直接箭头连接符 5"/>
          <p:cNvCxnSpPr>
            <a:stCxn id="4" idx="6"/>
            <a:endCxn id="5" idx="2"/>
          </p:cNvCxnSpPr>
          <p:nvPr userDrawn="1"/>
        </p:nvCxnSpPr>
        <p:spPr>
          <a:xfrm flipV="1">
            <a:off x="15470505" y="13174345"/>
            <a:ext cx="2714625" cy="26670"/>
          </a:xfrm>
          <a:prstGeom prst="straightConnector1">
            <a:avLst/>
          </a:prstGeom>
          <a:ln w="101600">
            <a:headEnd type="triangle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 userDrawn="1"/>
        </p:nvSpPr>
        <p:spPr>
          <a:xfrm>
            <a:off x="16309088" y="12492692"/>
            <a:ext cx="3724910" cy="521970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en-US" altLang="zh-CN" sz="2800" b="1"/>
              <a:t>DIST</a:t>
            </a:r>
            <a:endParaRPr lang="zh-CN" altLang="en-US" sz="2800" b="1"/>
          </a:p>
        </p:txBody>
      </p:sp>
      <p:sp>
        <p:nvSpPr>
          <p:cNvPr id="8" name="文本框 7"/>
          <p:cNvSpPr txBox="1"/>
          <p:nvPr userDrawn="1"/>
        </p:nvSpPr>
        <p:spPr>
          <a:xfrm>
            <a:off x="21417092" y="10779746"/>
            <a:ext cx="9206120" cy="6277280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sz="4400" b="1"/>
              <a:t>TotalRadius</a:t>
            </a:r>
            <a:r>
              <a:rPr lang="zh-CN" altLang="en-US" sz="4400" b="1"/>
              <a:t>=</a:t>
            </a:r>
            <a:r>
              <a:rPr lang="en-US" altLang="zh-CN" sz="4400" b="1"/>
              <a:t>R1</a:t>
            </a:r>
            <a:r>
              <a:rPr lang="zh-CN" altLang="en-US" sz="4400" b="1"/>
              <a:t>+</a:t>
            </a:r>
            <a:r>
              <a:rPr lang="en-US" altLang="zh-CN" sz="4400" b="1"/>
              <a:t>R2</a:t>
            </a:r>
            <a:r>
              <a:rPr lang="zh-CN" altLang="en-US" sz="4400" b="1"/>
              <a:t>=</a:t>
            </a:r>
            <a:r>
              <a:rPr lang="en-US" altLang="zh-CN" sz="4400" b="1"/>
              <a:t>2R</a:t>
            </a:r>
            <a:endParaRPr lang="en-US" altLang="zh-CN" sz="4400" b="1"/>
          </a:p>
          <a:p>
            <a:endParaRPr lang="en-US" altLang="zh-CN" sz="4400" b="1"/>
          </a:p>
          <a:p>
            <a:r>
              <a:rPr lang="en-US" altLang="zh-CN" sz="4400" b="1"/>
              <a:t>Overlap</a:t>
            </a:r>
            <a:r>
              <a:rPr lang="zh-CN" altLang="en-US" sz="4400" b="1"/>
              <a:t>=</a:t>
            </a:r>
            <a:r>
              <a:rPr lang="en-US" altLang="zh-CN" sz="4400" b="1"/>
              <a:t>TotalRadius </a:t>
            </a:r>
            <a:r>
              <a:rPr lang="zh-CN" altLang="en-US" sz="4400" b="1"/>
              <a:t>- </a:t>
            </a:r>
            <a:r>
              <a:rPr lang="en-US" altLang="zh-CN" sz="4400" b="1"/>
              <a:t>Dist</a:t>
            </a:r>
            <a:endParaRPr lang="en-US" altLang="zh-CN" sz="4400" b="1"/>
          </a:p>
          <a:p>
            <a:endParaRPr lang="en-US" altLang="zh-CN" sz="4400" b="1"/>
          </a:p>
          <a:p>
            <a:r>
              <a:rPr lang="en-US" altLang="zh-CN" sz="4400" b="1"/>
              <a:t>Correction</a:t>
            </a:r>
            <a:r>
              <a:rPr lang="zh-CN" altLang="en-US" sz="4400" b="1"/>
              <a:t>=</a:t>
            </a:r>
            <a:r>
              <a:rPr lang="en-US" altLang="zh-CN" sz="4400" b="1"/>
              <a:t>n*overlap/2</a:t>
            </a:r>
            <a:endParaRPr lang="en-US" altLang="zh-CN" sz="4400" b="1"/>
          </a:p>
        </p:txBody>
      </p:sp>
      <p:cxnSp>
        <p:nvCxnSpPr>
          <p:cNvPr id="9" name="直接箭头连接符 8"/>
          <p:cNvCxnSpPr/>
          <p:nvPr userDrawn="1"/>
        </p:nvCxnSpPr>
        <p:spPr>
          <a:xfrm>
            <a:off x="18185034" y="16606492"/>
            <a:ext cx="2501265" cy="0"/>
          </a:xfrm>
          <a:prstGeom prst="straightConnector1">
            <a:avLst/>
          </a:prstGeom>
          <a:ln w="101600"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 userDrawn="1"/>
        </p:nvCxnSpPr>
        <p:spPr>
          <a:xfrm flipH="1">
            <a:off x="13009880" y="16606520"/>
            <a:ext cx="2261235" cy="0"/>
          </a:xfrm>
          <a:prstGeom prst="straightConnector1">
            <a:avLst/>
          </a:prstGeom>
          <a:ln w="101600"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13009873" y="17056934"/>
            <a:ext cx="73152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 b="1">
                <a:solidFill>
                  <a:schemeClr val="tx1"/>
                </a:solidFill>
              </a:rPr>
              <a:t>Correction</a:t>
            </a:r>
            <a:endParaRPr lang="en-US" altLang="zh-CN" sz="3200" b="1">
              <a:solidFill>
                <a:schemeClr val="tx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8185034" y="17056934"/>
            <a:ext cx="73152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 b="1">
                <a:solidFill>
                  <a:schemeClr val="tx1"/>
                </a:solidFill>
              </a:rPr>
              <a:t>Correction</a:t>
            </a:r>
            <a:endParaRPr lang="en-US" altLang="zh-CN" sz="32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8"/>
          <p:cNvSpPr/>
          <p:nvPr/>
        </p:nvSpPr>
        <p:spPr>
          <a:xfrm>
            <a:off x="1447739" y="4317471"/>
            <a:ext cx="14175739" cy="59950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9000"/>
              </a:lnSpc>
              <a:spcBef>
                <a:spcPts val="0"/>
              </a:spcBef>
            </a:pPr>
            <a:r>
              <a:rPr sz="6200" b="1" kern="0" spc="-210" dirty="0">
                <a:solidFill>
                  <a:srgbClr val="208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Stabilité P</a:t>
            </a:r>
            <a:r>
              <a:rPr sz="6200" b="1" kern="0" spc="-220" dirty="0">
                <a:solidFill>
                  <a:srgbClr val="208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hysique</a:t>
            </a:r>
            <a:endParaRPr sz="6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7360"/>
              </a:lnSpc>
              <a:spcBef>
                <a:spcPts val="1260"/>
              </a:spcBef>
            </a:pPr>
            <a:r>
              <a:rPr sz="4200" kern="0" spc="-14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Dans main.cpp,le </a:t>
            </a:r>
            <a:r>
              <a:rPr sz="4200" kern="0" spc="-15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temps est fragmenté pour éviter que</a:t>
            </a:r>
            <a:r>
              <a:rPr sz="4200" kern="0" spc="15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4200" kern="0" spc="-15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les</a:t>
            </a:r>
            <a:r>
              <a:rPr sz="4200" kern="0" spc="16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4200" kern="0" spc="-15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billes</a:t>
            </a:r>
            <a:endParaRPr sz="4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7360"/>
              </a:lnSpc>
            </a:pPr>
            <a:r>
              <a:rPr sz="4100" kern="0" spc="-120" dirty="0">
                <a:solidFill>
                  <a:srgbClr val="2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ne traversent</a:t>
            </a:r>
            <a:r>
              <a:rPr sz="4100" kern="0" spc="-130" dirty="0">
                <a:solidFill>
                  <a:srgbClr val="2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les murs</a:t>
            </a:r>
            <a:r>
              <a:rPr sz="4100" kern="0" spc="60" dirty="0">
                <a:solidFill>
                  <a:srgbClr val="2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4100" kern="0" spc="-130" dirty="0">
                <a:solidFill>
                  <a:srgbClr val="2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à</a:t>
            </a:r>
            <a:r>
              <a:rPr sz="4100" kern="0" spc="170" dirty="0">
                <a:solidFill>
                  <a:srgbClr val="2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4100" kern="0" spc="-130" dirty="0">
                <a:solidFill>
                  <a:srgbClr val="2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haute</a:t>
            </a:r>
            <a:r>
              <a:rPr sz="4100" kern="0" spc="-20" dirty="0">
                <a:solidFill>
                  <a:srgbClr val="2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4100" kern="0" spc="-130" dirty="0">
                <a:solidFill>
                  <a:srgbClr val="2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vitesse.</a:t>
            </a:r>
            <a:endParaRPr sz="4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33400" algn="l" rtl="0" eaLnBrk="0">
              <a:lnSpc>
                <a:spcPts val="7465"/>
              </a:lnSpc>
              <a:spcBef>
                <a:spcPts val="1540"/>
              </a:spcBef>
            </a:pPr>
            <a:r>
              <a:rPr sz="4400" kern="0" spc="-140" dirty="0">
                <a:solidFill>
                  <a:srgbClr val="2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·Sub-steps:Division de chaque frame e</a:t>
            </a:r>
            <a:r>
              <a:rPr sz="4400" kern="0" spc="-150" dirty="0">
                <a:solidFill>
                  <a:srgbClr val="2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 4 micro-itérations.</a:t>
            </a:r>
            <a:endParaRPr sz="4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5215"/>
              </a:lnSpc>
            </a:pPr>
            <a:r>
              <a:rPr sz="4100" kern="0" spc="-3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·dt</a:t>
            </a:r>
            <a:r>
              <a:rPr sz="4100" kern="0" spc="42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4100" kern="0" spc="-3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Fixe:Garantit</a:t>
            </a:r>
            <a:r>
              <a:rPr sz="4100" kern="0" spc="34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4100" kern="0" spc="-3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une simulation détermini</a:t>
            </a:r>
            <a:r>
              <a:rPr sz="4100" kern="0" spc="-4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ste</a:t>
            </a:r>
            <a:r>
              <a:rPr sz="4100" kern="0" spc="36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4100" kern="0" spc="-4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peu</a:t>
            </a:r>
            <a:r>
              <a:rPr sz="4100" kern="0" spc="35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4100" kern="0" spc="-4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importe</a:t>
            </a:r>
            <a:r>
              <a:rPr sz="4100" kern="0" spc="34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4100" kern="0" spc="-4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le</a:t>
            </a:r>
            <a:endParaRPr sz="4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028700" algn="l" rtl="0" eaLnBrk="0">
              <a:lnSpc>
                <a:spcPts val="7835"/>
              </a:lnSpc>
              <a:spcBef>
                <a:spcPts val="195"/>
              </a:spcBef>
            </a:pPr>
            <a:r>
              <a:rPr sz="4600" kern="0" spc="-200" dirty="0">
                <a:solidFill>
                  <a:srgbClr val="20607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framerate.</a:t>
            </a:r>
            <a:endParaRPr sz="46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0" name="textbox 40"/>
          <p:cNvSpPr/>
          <p:nvPr/>
        </p:nvSpPr>
        <p:spPr>
          <a:xfrm>
            <a:off x="16783050" y="4286250"/>
            <a:ext cx="14128750" cy="4553585"/>
          </a:xfrm>
          <a:prstGeom prst="rect">
            <a:avLst/>
          </a:prstGeom>
          <a:solidFill>
            <a:srgbClr val="F5F7F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09600" algn="l" rtl="0" eaLnBrk="0">
              <a:lnSpc>
                <a:spcPts val="5510"/>
              </a:lnSpc>
              <a:spcBef>
                <a:spcPts val="5"/>
              </a:spcBef>
            </a:pPr>
            <a:r>
              <a:rPr sz="4100" kern="0" spc="-1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//main.cpp -Extraits du Sub-step</a:t>
            </a:r>
            <a:r>
              <a:rPr sz="4100" kern="0" spc="-1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ping</a:t>
            </a:r>
            <a:endParaRPr sz="4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90550" algn="l" rtl="0" eaLnBrk="0">
              <a:lnSpc>
                <a:spcPct val="75000"/>
              </a:lnSpc>
              <a:spcBef>
                <a:spcPts val="30"/>
              </a:spcBef>
            </a:pPr>
            <a:r>
              <a:rPr sz="3900" kern="0" spc="-1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if(currentState ==APP_PLAYING){</a:t>
            </a:r>
            <a:endParaRPr sz="39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77315" algn="l" rtl="0" eaLnBrk="0">
              <a:lnSpc>
                <a:spcPct val="82000"/>
              </a:lnSpc>
              <a:spcBef>
                <a:spcPts val="305"/>
              </a:spcBef>
            </a:pPr>
            <a:r>
              <a:rPr sz="4100" kern="0" spc="-140" dirty="0">
                <a:solidFill>
                  <a:srgbClr val="000000">
                    <a:alpha val="100000"/>
                  </a:srgbClr>
                </a:solidFill>
                <a:highlight>
                  <a:srgbClr val="FFFF00"/>
                </a:highlight>
                <a:latin typeface="Arial" panose="020B0604020202020204"/>
                <a:ea typeface="Arial" panose="020B0604020202020204"/>
                <a:cs typeface="Arial" panose="020B0604020202020204"/>
              </a:rPr>
              <a:t>int subSteps</a:t>
            </a:r>
            <a:r>
              <a:rPr sz="4100" kern="0" spc="150" dirty="0">
                <a:solidFill>
                  <a:srgbClr val="000000">
                    <a:alpha val="100000"/>
                  </a:srgbClr>
                </a:solidFill>
                <a:highlight>
                  <a:srgbClr val="FFFF00"/>
                </a:highlight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4100" kern="0" spc="-140" dirty="0">
                <a:solidFill>
                  <a:srgbClr val="000000">
                    <a:alpha val="100000"/>
                  </a:srgbClr>
                </a:solidFill>
                <a:highlight>
                  <a:srgbClr val="FFFF00"/>
                </a:highlight>
                <a:latin typeface="Arial" panose="020B0604020202020204"/>
                <a:ea typeface="Arial" panose="020B0604020202020204"/>
                <a:cs typeface="Arial" panose="020B0604020202020204"/>
              </a:rPr>
              <a:t>=4;</a:t>
            </a:r>
            <a:endParaRPr sz="4100" dirty="0">
              <a:highlight>
                <a:srgbClr val="FFFF00"/>
              </a:highlight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77315" algn="l" rtl="0" eaLnBrk="0">
              <a:lnSpc>
                <a:spcPct val="84000"/>
              </a:lnSpc>
              <a:spcBef>
                <a:spcPts val="45"/>
              </a:spcBef>
            </a:pPr>
            <a:r>
              <a:rPr sz="4100" kern="0" spc="-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float subDt</a:t>
            </a:r>
            <a:r>
              <a:rPr sz="4100" kern="0" spc="-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=dt /subSteps;</a:t>
            </a:r>
            <a:endParaRPr sz="4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77315" algn="l" rtl="0" eaLnBrk="0">
              <a:lnSpc>
                <a:spcPts val="4990"/>
              </a:lnSpc>
            </a:pPr>
            <a:r>
              <a:rPr lang="en-US" altLang="zh-CN" sz="4100" dirty="0">
                <a:latin typeface="Arial" panose="020B0604020202020204"/>
                <a:ea typeface="Arial" panose="020B0604020202020204"/>
                <a:cs typeface="Arial" panose="020B0604020202020204"/>
              </a:rPr>
              <a:t>for(int s=0; s&lt;subSteps; ++s){ </a:t>
            </a:r>
            <a:endParaRPr lang="en-US" altLang="zh-CN" sz="4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77315" algn="l" rtl="0" eaLnBrk="0">
              <a:lnSpc>
                <a:spcPts val="4990"/>
              </a:lnSpc>
            </a:pPr>
            <a:r>
              <a:rPr lang="en-US" altLang="zh-CN" sz="4100" dirty="0">
                <a:highlight>
                  <a:srgbClr val="FFFF00"/>
                </a:highlight>
                <a:latin typeface="Arial" panose="020B0604020202020204"/>
                <a:ea typeface="Arial" panose="020B0604020202020204"/>
                <a:cs typeface="Arial" panose="020B0604020202020204"/>
              </a:rPr>
              <a:t>table.update(subDt)</a:t>
            </a:r>
            <a:r>
              <a:rPr lang="en-US" altLang="zh-CN" sz="4100" dirty="0">
                <a:latin typeface="Arial" panose="020B0604020202020204"/>
                <a:ea typeface="Arial" panose="020B0604020202020204"/>
                <a:cs typeface="Arial" panose="020B0604020202020204"/>
              </a:rPr>
              <a:t>; } </a:t>
            </a:r>
            <a:endParaRPr lang="en-US" altLang="zh-CN" sz="4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77315" algn="l" rtl="0" eaLnBrk="0">
              <a:lnSpc>
                <a:spcPts val="4990"/>
              </a:lnSpc>
            </a:pPr>
            <a:r>
              <a:rPr lang="en-US" altLang="zh-CN" sz="4100" dirty="0">
                <a:latin typeface="Arial" panose="020B0604020202020204"/>
                <a:ea typeface="Arial" panose="020B0604020202020204"/>
                <a:cs typeface="Arial" panose="020B0604020202020204"/>
              </a:rPr>
              <a:t>}</a:t>
            </a:r>
            <a:endParaRPr lang="en-US" altLang="zh-CN" sz="41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2" name="textbox 42"/>
          <p:cNvSpPr/>
          <p:nvPr/>
        </p:nvSpPr>
        <p:spPr>
          <a:xfrm>
            <a:off x="1447800" y="1644015"/>
            <a:ext cx="25400000" cy="13442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5000"/>
              </a:lnSpc>
            </a:pPr>
            <a:r>
              <a:rPr sz="8900" b="1" kern="0" spc="-390" dirty="0">
                <a:solidFill>
                  <a:srgbClr val="204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Architecture:Boucle de Jeu</a:t>
            </a:r>
            <a:r>
              <a:rPr lang="en-US" sz="8900" b="1" kern="0" spc="-390" dirty="0">
                <a:solidFill>
                  <a:srgbClr val="204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8900" b="1" kern="0" spc="-390" dirty="0">
                <a:solidFill>
                  <a:srgbClr val="204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&amp;</a:t>
            </a:r>
            <a:r>
              <a:rPr lang="en-US" sz="8900" b="1" kern="0" spc="-390" dirty="0">
                <a:solidFill>
                  <a:srgbClr val="204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8900" b="1" kern="0" spc="-390" dirty="0">
                <a:solidFill>
                  <a:srgbClr val="204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Sub-s</a:t>
            </a:r>
            <a:r>
              <a:rPr sz="8900" b="1" kern="0" spc="-400" dirty="0">
                <a:solidFill>
                  <a:srgbClr val="204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teps</a:t>
            </a:r>
            <a:endParaRPr sz="89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44" name="picture 4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460438" y="3155960"/>
            <a:ext cx="29521218" cy="57058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rcRect l="1464"/>
          <a:stretch>
            <a:fillRect/>
          </a:stretch>
        </p:blipFill>
        <p:spPr>
          <a:xfrm>
            <a:off x="17040225" y="8839835"/>
            <a:ext cx="13463905" cy="91884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box 56"/>
          <p:cNvSpPr/>
          <p:nvPr/>
        </p:nvSpPr>
        <p:spPr>
          <a:xfrm>
            <a:off x="1447738" y="4525962"/>
            <a:ext cx="13422630" cy="59232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3000"/>
              </a:lnSpc>
            </a:pPr>
            <a:r>
              <a:rPr sz="6200" b="1" kern="0" spc="-240" dirty="0">
                <a:solidFill>
                  <a:srgbClr val="207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Transition Gli</a:t>
            </a:r>
            <a:r>
              <a:rPr sz="6200" b="1" kern="0" spc="-250" dirty="0">
                <a:solidFill>
                  <a:srgbClr val="207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ssement-Roulement</a:t>
            </a:r>
            <a:endParaRPr sz="6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7480"/>
              </a:lnSpc>
              <a:spcBef>
                <a:spcPts val="1300"/>
              </a:spcBef>
            </a:pPr>
            <a:r>
              <a:rPr sz="4300" kern="0" spc="-15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Simulation de</a:t>
            </a:r>
            <a:r>
              <a:rPr sz="4300" kern="0" spc="-16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 effets de queue(Rétro/Coulé)viala gestion du</a:t>
            </a:r>
            <a:endParaRPr sz="4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3000"/>
              </a:lnSpc>
              <a:spcBef>
                <a:spcPts val="10"/>
              </a:spcBef>
            </a:pPr>
            <a:r>
              <a:rPr sz="5300" kern="0" spc="-170" dirty="0">
                <a:solidFill>
                  <a:srgbClr val="20507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slipVelocity.</a:t>
            </a:r>
            <a:endParaRPr sz="5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7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14350" algn="l" rtl="0" eaLnBrk="0">
              <a:lnSpc>
                <a:spcPts val="6840"/>
              </a:lnSpc>
              <a:spcBef>
                <a:spcPts val="1355"/>
              </a:spcBef>
            </a:pPr>
            <a:r>
              <a:rPr sz="4500" kern="0" spc="-16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·Spin XY:Vitesse relative </a:t>
            </a:r>
            <a:r>
              <a:rPr sz="4500" kern="0" spc="-17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au point</a:t>
            </a:r>
            <a:r>
              <a:rPr sz="4500" kern="0" spc="4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4500" kern="0" spc="-17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</a:t>
            </a:r>
            <a:r>
              <a:rPr sz="4500" kern="0" spc="6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4500" kern="0" spc="-17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contact.</a:t>
            </a:r>
            <a:endParaRPr sz="4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047750" indent="-533400" algn="l" rtl="0" eaLnBrk="0">
              <a:lnSpc>
                <a:spcPct val="139000"/>
              </a:lnSpc>
              <a:spcBef>
                <a:spcPts val="40"/>
              </a:spcBef>
            </a:pPr>
            <a:r>
              <a:rPr sz="4100" kern="0" spc="-30" dirty="0">
                <a:solidFill>
                  <a:srgbClr val="2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·Couplage:La</a:t>
            </a:r>
            <a:r>
              <a:rPr sz="4100" kern="0" spc="360" dirty="0">
                <a:solidFill>
                  <a:srgbClr val="2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4100" kern="0" spc="-30" dirty="0">
                <a:solidFill>
                  <a:srgbClr val="2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friction</a:t>
            </a:r>
            <a:r>
              <a:rPr sz="4100" kern="0" spc="440" dirty="0">
                <a:solidFill>
                  <a:srgbClr val="2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4100" kern="0" spc="-30" dirty="0">
                <a:solidFill>
                  <a:srgbClr val="2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convertit</a:t>
            </a:r>
            <a:r>
              <a:rPr sz="4100" kern="0" spc="550" dirty="0">
                <a:solidFill>
                  <a:srgbClr val="2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4100" kern="0" spc="-30" dirty="0">
                <a:solidFill>
                  <a:srgbClr val="2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la</a:t>
            </a:r>
            <a:r>
              <a:rPr sz="4100" kern="0" spc="550" dirty="0">
                <a:solidFill>
                  <a:srgbClr val="2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4100" kern="0" spc="-30" dirty="0">
                <a:solidFill>
                  <a:srgbClr val="2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rotation</a:t>
            </a:r>
            <a:r>
              <a:rPr sz="4100" kern="0" spc="430" dirty="0">
                <a:solidFill>
                  <a:srgbClr val="2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4100" kern="0" spc="-30" dirty="0">
                <a:solidFill>
                  <a:srgbClr val="2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</a:t>
            </a:r>
            <a:r>
              <a:rPr sz="4100" kern="0" spc="360" dirty="0">
                <a:solidFill>
                  <a:srgbClr val="2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4100" kern="0" spc="-30" dirty="0">
                <a:solidFill>
                  <a:srgbClr val="2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translation</a:t>
            </a:r>
            <a:r>
              <a:rPr sz="4100" kern="0" spc="0" dirty="0">
                <a:solidFill>
                  <a:srgbClr val="2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4500" kern="0" spc="-150" dirty="0">
                <a:solidFill>
                  <a:srgbClr val="2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linéaire</a:t>
            </a:r>
            <a:r>
              <a:rPr sz="4500" kern="0" spc="-150" dirty="0">
                <a:solidFill>
                  <a:srgbClr val="20506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.</a:t>
            </a:r>
            <a:endParaRPr sz="45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8" name="textbox 58"/>
          <p:cNvSpPr/>
          <p:nvPr/>
        </p:nvSpPr>
        <p:spPr>
          <a:xfrm>
            <a:off x="16764162" y="4267139"/>
            <a:ext cx="14166850" cy="5448934"/>
          </a:xfrm>
          <a:prstGeom prst="rect">
            <a:avLst/>
          </a:prstGeom>
          <a:solidFill>
            <a:srgbClr val="F4F7F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89915" algn="l" rtl="0" eaLnBrk="0">
              <a:lnSpc>
                <a:spcPts val="4740"/>
              </a:lnSpc>
            </a:pPr>
            <a:r>
              <a:rPr sz="41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//Boule.cpp -Physique du Spin</a:t>
            </a:r>
            <a:endParaRPr sz="4100" kern="0" spc="-20" dirty="0">
              <a:solidFill>
                <a:srgbClr val="00000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89915" algn="l" rtl="0" eaLnBrk="0">
              <a:lnSpc>
                <a:spcPts val="4740"/>
              </a:lnSpc>
            </a:pPr>
            <a:r>
              <a:rPr sz="4100" kern="0" spc="-20" dirty="0">
                <a:solidFill>
                  <a:srgbClr val="000000">
                    <a:alpha val="100000"/>
                  </a:srgbClr>
                </a:solidFill>
                <a:highlight>
                  <a:srgbClr val="FFFF00"/>
                </a:highlight>
                <a:latin typeface="Arial" panose="020B0604020202020204"/>
                <a:ea typeface="Arial" panose="020B0604020202020204"/>
                <a:cs typeface="Arial" panose="020B0604020202020204"/>
              </a:rPr>
              <a:t>Vector2D slipVelocity =spinXY -velocity;</a:t>
            </a:r>
            <a:endParaRPr sz="4100" kern="0" spc="-20" dirty="0">
              <a:solidFill>
                <a:srgbClr val="000000">
                  <a:alpha val="100000"/>
                </a:srgbClr>
              </a:solidFill>
              <a:highlight>
                <a:srgbClr val="FFFF00"/>
              </a:highlight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89915" algn="l" rtl="0" eaLnBrk="0">
              <a:lnSpc>
                <a:spcPct val="73000"/>
              </a:lnSpc>
              <a:spcBef>
                <a:spcPts val="30"/>
              </a:spcBef>
            </a:pPr>
            <a:r>
              <a:rPr sz="41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float   slipSpeed   =slipVelocity.length();</a:t>
            </a:r>
            <a:endParaRPr sz="4100" kern="0" spc="-20" dirty="0">
              <a:solidFill>
                <a:srgbClr val="00000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89915" algn="l" rtl="0" eaLnBrk="0">
              <a:lnSpc>
                <a:spcPts val="7575"/>
              </a:lnSpc>
            </a:pPr>
            <a:r>
              <a:rPr sz="41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if(slipSpeed   &gt;0.1f){</a:t>
            </a:r>
            <a:endParaRPr sz="4100" kern="0" spc="-20" dirty="0">
              <a:solidFill>
                <a:srgbClr val="00000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6365" algn="l" rtl="0" eaLnBrk="0">
              <a:lnSpc>
                <a:spcPct val="84000"/>
              </a:lnSpc>
              <a:spcBef>
                <a:spcPts val="30"/>
              </a:spcBef>
            </a:pPr>
            <a:r>
              <a:rPr sz="41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float  frictionStep</a:t>
            </a:r>
            <a:r>
              <a:rPr sz="41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=250.0f*dt;</a:t>
            </a:r>
            <a:endParaRPr sz="4100" kern="0" spc="-20" dirty="0">
              <a:solidFill>
                <a:srgbClr val="00000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6365" algn="l" rtl="0" eaLnBrk="0">
              <a:lnSpc>
                <a:spcPct val="83000"/>
              </a:lnSpc>
              <a:spcBef>
                <a:spcPts val="25"/>
              </a:spcBef>
            </a:pPr>
            <a:r>
              <a:rPr sz="41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velocity  =velocity  +(slipDir*frictionStep);</a:t>
            </a:r>
            <a:endParaRPr sz="4100" kern="0" spc="-20" dirty="0">
              <a:solidFill>
                <a:srgbClr val="00000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6365" algn="l" rtl="0" eaLnBrk="0">
              <a:lnSpc>
                <a:spcPts val="5110"/>
              </a:lnSpc>
            </a:pPr>
            <a:r>
              <a:rPr sz="41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spinXY =spinXY -(slipDir*frictionStep*3.0f);</a:t>
            </a:r>
            <a:endParaRPr sz="4100" kern="0" spc="-20" dirty="0">
              <a:solidFill>
                <a:srgbClr val="00000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6365" algn="l" rtl="0" eaLnBrk="0">
              <a:lnSpc>
                <a:spcPts val="5110"/>
              </a:lnSpc>
            </a:pPr>
            <a:r>
              <a:rPr sz="41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}</a:t>
            </a:r>
            <a:endParaRPr sz="4100" kern="0" spc="-20" dirty="0">
              <a:solidFill>
                <a:srgbClr val="00000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0" name="textbox 60"/>
          <p:cNvSpPr/>
          <p:nvPr/>
        </p:nvSpPr>
        <p:spPr>
          <a:xfrm>
            <a:off x="1447738" y="1689579"/>
            <a:ext cx="16682085" cy="12274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4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8000"/>
              </a:lnSpc>
            </a:pPr>
            <a:r>
              <a:rPr sz="9000" b="1" kern="0" spc="-430" dirty="0">
                <a:solidFill>
                  <a:srgbClr val="203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Dyn</a:t>
            </a:r>
            <a:r>
              <a:rPr sz="9000" b="1" kern="0" spc="-420" dirty="0">
                <a:solidFill>
                  <a:srgbClr val="203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amique:Rotation&amp;Glissemen</a:t>
            </a:r>
            <a:r>
              <a:rPr sz="9000" b="1" kern="0" spc="-110" dirty="0">
                <a:solidFill>
                  <a:srgbClr val="203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</a:t>
            </a:r>
            <a:endParaRPr sz="9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62" name="picture 6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460438" y="3155960"/>
            <a:ext cx="29521218" cy="57058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2473325" y="11790680"/>
            <a:ext cx="19130010" cy="1753235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en-US" altLang="zh-CN" sz="3600" b="1"/>
              <a:t>slipVelocity → 0</a:t>
            </a:r>
            <a:endParaRPr lang="en-US" altLang="zh-CN" sz="3600" b="1"/>
          </a:p>
          <a:p>
            <a:endParaRPr lang="en-US" altLang="zh-CN" sz="3600" b="1"/>
          </a:p>
          <a:p>
            <a:r>
              <a:rPr lang="en-US" altLang="zh-CN" sz="3600" b="1"/>
              <a:t>la bille passe du glissement au roulement pur</a:t>
            </a:r>
            <a:endParaRPr lang="en-US" altLang="zh-CN" sz="3600" b="1"/>
          </a:p>
        </p:txBody>
      </p:sp>
      <p:sp>
        <p:nvSpPr>
          <p:cNvPr id="4" name="椭圆 3"/>
          <p:cNvSpPr/>
          <p:nvPr userDrawn="1"/>
        </p:nvSpPr>
        <p:spPr>
          <a:xfrm>
            <a:off x="15776575" y="12056745"/>
            <a:ext cx="3246120" cy="3166745"/>
          </a:xfrm>
          <a:prstGeom prst="ellipse">
            <a:avLst/>
          </a:prstGeom>
          <a:solidFill>
            <a:srgbClr val="FFC000">
              <a:alpha val="100000"/>
            </a:srgb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椭圆 4"/>
          <p:cNvSpPr/>
          <p:nvPr userDrawn="1"/>
        </p:nvSpPr>
        <p:spPr>
          <a:xfrm>
            <a:off x="22794567" y="12056841"/>
            <a:ext cx="3246120" cy="3166745"/>
          </a:xfrm>
          <a:prstGeom prst="ellipse">
            <a:avLst/>
          </a:prstGeom>
          <a:solidFill>
            <a:srgbClr val="FFC000">
              <a:alpha val="100000"/>
            </a:srgbClr>
          </a:solidFill>
          <a:ln>
            <a:solidFill>
              <a:srgbClr val="0070C0">
                <a:alpha val="100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cxnSp>
        <p:nvCxnSpPr>
          <p:cNvPr id="6" name="直接箭头连接符 5"/>
          <p:cNvCxnSpPr/>
          <p:nvPr userDrawn="1"/>
        </p:nvCxnSpPr>
        <p:spPr>
          <a:xfrm>
            <a:off x="19474815" y="13573760"/>
            <a:ext cx="2980055" cy="0"/>
          </a:xfrm>
          <a:prstGeom prst="straightConnector1">
            <a:avLst/>
          </a:prstGeom>
          <a:ln w="101600">
            <a:solidFill>
              <a:schemeClr val="accent4">
                <a:alpha val="10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上弧形箭头 9"/>
          <p:cNvSpPr/>
          <p:nvPr userDrawn="1"/>
        </p:nvSpPr>
        <p:spPr>
          <a:xfrm>
            <a:off x="22532148" y="11434431"/>
            <a:ext cx="3770713" cy="1244539"/>
          </a:xfrm>
          <a:prstGeom prst="curvedDownArrow">
            <a:avLst/>
          </a:prstGeom>
          <a:solidFill>
            <a:srgbClr val="92D050">
              <a:alpha val="100000"/>
            </a:srgbClr>
          </a:solidFill>
          <a:ln>
            <a:solidFill>
              <a:srgbClr val="FFC000">
                <a:alpha val="100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1" name="右箭头 10"/>
          <p:cNvSpPr/>
          <p:nvPr userDrawn="1"/>
        </p:nvSpPr>
        <p:spPr>
          <a:xfrm>
            <a:off x="17365573" y="11790655"/>
            <a:ext cx="2109104" cy="426720"/>
          </a:xfrm>
          <a:prstGeom prst="rightArrow">
            <a:avLst/>
          </a:prstGeom>
          <a:solidFill>
            <a:srgbClr val="92D050">
              <a:alpha val="100000"/>
            </a:srgb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" name="textbox 32"/>
          <p:cNvSpPr/>
          <p:nvPr/>
        </p:nvSpPr>
        <p:spPr>
          <a:xfrm>
            <a:off x="8198485" y="5212080"/>
            <a:ext cx="7754620" cy="12896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>
            <a:scene3d>
              <a:camera prst="orthographicFront"/>
              <a:lightRig rig="threePt" dir="t"/>
            </a:scene3d>
          </a:bodyPr>
          <a:lstStyle/>
          <a:p>
            <a:pPr algn="l" rtl="0" eaLnBrk="0">
              <a:lnSpc>
                <a:spcPct val="81000"/>
              </a:lnSpc>
              <a:spcBef>
                <a:spcPts val="0"/>
              </a:spcBef>
            </a:pPr>
            <a:endParaRPr lang="en-US" sz="9600" b="1" kern="0" spc="-90" dirty="0">
              <a:ln w="15875"/>
              <a:gradFill>
                <a:gsLst>
                  <a:gs pos="0">
                    <a:schemeClr val="accent1">
                      <a:hueMod val="80000"/>
                    </a:schemeClr>
                  </a:gs>
                  <a:gs pos="100000">
                    <a:schemeClr val="accent1">
                      <a:alpha val="100000"/>
                    </a:schemeClr>
                  </a:gs>
                </a:gsLst>
                <a:lin ang="2700000" scaled="0"/>
              </a:gradFill>
              <a:effectLst/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textbox 4"/>
          <p:cNvSpPr/>
          <p:nvPr/>
        </p:nvSpPr>
        <p:spPr>
          <a:xfrm>
            <a:off x="3016885" y="6129020"/>
            <a:ext cx="28501340" cy="104527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26565" algn="l" rtl="0" eaLnBrk="0">
              <a:lnSpc>
                <a:spcPct val="82000"/>
              </a:lnSpc>
              <a:spcBef>
                <a:spcPts val="4830"/>
              </a:spcBef>
            </a:pPr>
            <a:r>
              <a:rPr lang="en-US" altLang="zh-CN" sz="16000" b="1" kern="0" spc="-580" dirty="0">
                <a:solidFill>
                  <a:srgbClr val="204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      Game Logic</a:t>
            </a:r>
            <a:endParaRPr lang="en-US" altLang="zh-CN" sz="16000" b="1" kern="0" spc="-580" dirty="0">
              <a:solidFill>
                <a:srgbClr val="20404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lang="en-US" sz="16000" b="1" kern="0" spc="-580" dirty="0">
              <a:solidFill>
                <a:srgbClr val="20404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lang="en-US" sz="16000" b="1" kern="0" spc="-580" dirty="0">
              <a:solidFill>
                <a:srgbClr val="20404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b="1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b="1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b="1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b="1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b="1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b="1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r>
              <a:rPr lang="en-US" sz="3800" b="1" kern="0" spc="-2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                                    </a:t>
            </a:r>
            <a:endParaRPr sz="3800" b="1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8"/>
          <p:cNvSpPr/>
          <p:nvPr/>
        </p:nvSpPr>
        <p:spPr>
          <a:xfrm>
            <a:off x="1489014" y="3764659"/>
            <a:ext cx="29533850" cy="13085887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r>
              <a:rPr lang="zh-CN" sz="6400" b="1" kern="0" spc="-280" dirty="0">
                <a:solidFill>
                  <a:srgbClr val="208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★</a:t>
            </a:r>
            <a:r>
              <a:rPr lang="en-US" altLang="zh-CN" sz="6400" b="1" kern="0" spc="-280" dirty="0">
                <a:solidFill>
                  <a:srgbClr val="208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  Gestion des tours : Automatisation du cycle de jeu et passage fluide entre les joueurs.</a:t>
            </a:r>
            <a:endParaRPr lang="en-US" altLang="zh-CN" sz="6400" b="1" kern="0" spc="-280" dirty="0">
              <a:solidFill>
                <a:srgbClr val="20809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  <a:sym typeface="+mn-ea"/>
            </a:endParaRPr>
          </a:p>
          <a:p>
            <a:pPr marL="12700" algn="l" rtl="0" eaLnBrk="0">
              <a:lnSpc>
                <a:spcPct val="150000"/>
              </a:lnSpc>
              <a:spcBef>
                <a:spcPts val="1235"/>
              </a:spcBef>
            </a:pPr>
            <a:r>
              <a:rPr lang="zh-CN" sz="6400" b="1" kern="0" spc="-280" dirty="0">
                <a:solidFill>
                  <a:srgbClr val="208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★</a:t>
            </a:r>
            <a:r>
              <a:rPr lang="en-US" altLang="zh-CN" sz="6400" b="1" kern="0" spc="-280" dirty="0">
                <a:solidFill>
                  <a:srgbClr val="208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 Attribution dynamique : D</a:t>
            </a:r>
            <a:r>
              <a:rPr lang="en-US" altLang="en-US" sz="6400" b="1" kern="0" spc="-280" dirty="0">
                <a:solidFill>
                  <a:srgbClr val="208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é</a:t>
            </a:r>
            <a:r>
              <a:rPr lang="en-US" altLang="zh-CN" sz="6400" b="1" kern="0" spc="-280" dirty="0">
                <a:solidFill>
                  <a:srgbClr val="208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finition des groupes (Rouges vs Bleues) lors du premier empochage l</a:t>
            </a:r>
            <a:r>
              <a:rPr lang="en-US" altLang="en-US" sz="6400" b="1" kern="0" spc="-280" dirty="0">
                <a:solidFill>
                  <a:srgbClr val="208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é</a:t>
            </a:r>
            <a:r>
              <a:rPr lang="en-US" altLang="zh-CN" sz="6400" b="1" kern="0" spc="-280" dirty="0">
                <a:solidFill>
                  <a:srgbClr val="208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gal.</a:t>
            </a:r>
            <a:endParaRPr lang="en-US" altLang="zh-CN" sz="6400" b="1" kern="0" spc="-280" dirty="0">
              <a:solidFill>
                <a:srgbClr val="20809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  <a:sym typeface="+mn-ea"/>
            </a:endParaRPr>
          </a:p>
          <a:p>
            <a:pPr marL="12700" algn="l" rtl="0" eaLnBrk="0">
              <a:lnSpc>
                <a:spcPct val="150000"/>
              </a:lnSpc>
              <a:spcBef>
                <a:spcPts val="1235"/>
              </a:spcBef>
            </a:pPr>
            <a:r>
              <a:rPr lang="zh-CN" sz="6400" b="1" kern="0" spc="-280" dirty="0">
                <a:solidFill>
                  <a:srgbClr val="208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★</a:t>
            </a:r>
            <a:r>
              <a:rPr lang="en-US" altLang="zh-CN" sz="6400" b="1" kern="0" spc="-280" dirty="0">
                <a:solidFill>
                  <a:srgbClr val="208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 </a:t>
            </a:r>
            <a:r>
              <a:rPr lang="en-US" altLang="zh-CN" sz="6400" b="1" kern="0" spc="-280" dirty="0">
                <a:solidFill>
                  <a:srgbClr val="208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</a:t>
            </a:r>
            <a:r>
              <a:rPr lang="en-US" altLang="en-US" sz="6400" b="1" kern="0" spc="-280" dirty="0">
                <a:solidFill>
                  <a:srgbClr val="208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é</a:t>
            </a:r>
            <a:r>
              <a:rPr lang="en-US" altLang="zh-CN" sz="6400" b="1" kern="0" spc="-280" dirty="0">
                <a:solidFill>
                  <a:srgbClr val="208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tection des Fautes : Surveillance en temps r</a:t>
            </a:r>
            <a:r>
              <a:rPr lang="en-US" altLang="en-US" sz="6400" b="1" kern="0" spc="-280" dirty="0">
                <a:solidFill>
                  <a:srgbClr val="208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é</a:t>
            </a:r>
            <a:r>
              <a:rPr lang="en-US" altLang="zh-CN" sz="6400" b="1" kern="0" spc="-280" dirty="0">
                <a:solidFill>
                  <a:srgbClr val="208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el des contacts ill</a:t>
            </a:r>
            <a:r>
              <a:rPr lang="en-US" altLang="en-US" sz="6400" b="1" kern="0" spc="-280" dirty="0">
                <a:solidFill>
                  <a:srgbClr val="208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é</a:t>
            </a:r>
            <a:r>
              <a:rPr lang="en-US" altLang="zh-CN" sz="6400" b="1" kern="0" spc="-280" dirty="0">
                <a:solidFill>
                  <a:srgbClr val="208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gaux et des chutes de la bille blanche.</a:t>
            </a:r>
            <a:endParaRPr lang="en-US" altLang="zh-CN" sz="6400" b="1" kern="0" spc="-280" dirty="0">
              <a:solidFill>
                <a:srgbClr val="20809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50000"/>
              </a:lnSpc>
              <a:spcBef>
                <a:spcPts val="1235"/>
              </a:spcBef>
            </a:pPr>
            <a:r>
              <a:rPr lang="en-US" altLang="zh-CN" sz="6400" b="1" kern="0" spc="-280" dirty="0">
                <a:solidFill>
                  <a:srgbClr val="208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★ Conditions de Victoire : Analyse crois</a:t>
            </a:r>
            <a:r>
              <a:rPr lang="en-US" altLang="en-US" sz="6400" b="1" kern="0" spc="-280" dirty="0">
                <a:solidFill>
                  <a:srgbClr val="208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é</a:t>
            </a:r>
            <a:r>
              <a:rPr lang="en-US" altLang="zh-CN" sz="6400" b="1" kern="0" spc="-280" dirty="0">
                <a:solidFill>
                  <a:srgbClr val="208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 de l'empochage de la bille noire et de la l</a:t>
            </a:r>
            <a:r>
              <a:rPr lang="en-US" altLang="en-US" sz="6400" b="1" kern="0" spc="-280" dirty="0">
                <a:solidFill>
                  <a:srgbClr val="208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é</a:t>
            </a:r>
            <a:r>
              <a:rPr lang="en-US" altLang="zh-CN" sz="6400" b="1" kern="0" spc="-280" dirty="0">
                <a:solidFill>
                  <a:srgbClr val="208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galit</a:t>
            </a:r>
            <a:r>
              <a:rPr lang="en-US" altLang="en-US" sz="6400" b="1" kern="0" spc="-280" dirty="0">
                <a:solidFill>
                  <a:srgbClr val="208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é </a:t>
            </a:r>
            <a:r>
              <a:rPr lang="en-US" altLang="zh-CN" sz="6400" b="1" kern="0" spc="-280" dirty="0">
                <a:solidFill>
                  <a:srgbClr val="208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du coup.</a:t>
            </a:r>
            <a:endParaRPr lang="en-US" altLang="zh-CN" sz="6400" b="1" kern="0" spc="-280" dirty="0">
              <a:solidFill>
                <a:srgbClr val="20809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50000"/>
              </a:lnSpc>
              <a:spcBef>
                <a:spcPts val="1235"/>
              </a:spcBef>
            </a:pPr>
            <a:endParaRPr lang="en-US" altLang="zh-CN" sz="6400" b="1" kern="0" spc="-280" dirty="0">
              <a:solidFill>
                <a:srgbClr val="20809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2" name="textbox 32"/>
          <p:cNvSpPr/>
          <p:nvPr/>
        </p:nvSpPr>
        <p:spPr>
          <a:xfrm>
            <a:off x="1447800" y="1598295"/>
            <a:ext cx="24226520" cy="10191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2000"/>
              </a:lnSpc>
            </a:pPr>
            <a:r>
              <a:rPr lang="en-US" altLang="zh-CN" sz="8000" b="1" kern="0" spc="-90" dirty="0">
                <a:solidFill>
                  <a:srgbClr val="204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Syst</a:t>
            </a:r>
            <a:r>
              <a:rPr lang="en-US" altLang="en-US" sz="8000" b="1" kern="0" spc="-90" dirty="0">
                <a:solidFill>
                  <a:srgbClr val="204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è</a:t>
            </a:r>
            <a:r>
              <a:rPr lang="en-US" altLang="zh-CN" sz="8000" b="1" kern="0" spc="-90" dirty="0">
                <a:solidFill>
                  <a:srgbClr val="204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me de r</a:t>
            </a:r>
            <a:r>
              <a:rPr lang="en-US" altLang="en-US" sz="8000" b="1" kern="0" spc="-90" dirty="0">
                <a:solidFill>
                  <a:srgbClr val="204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è</a:t>
            </a:r>
            <a:r>
              <a:rPr lang="en-US" altLang="zh-CN" sz="8000" b="1" kern="0" spc="-90" dirty="0">
                <a:solidFill>
                  <a:srgbClr val="204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gles et logique d’arbitrage</a:t>
            </a:r>
            <a:endParaRPr lang="en-US" altLang="zh-CN" sz="8000" b="1" kern="0" spc="-90" dirty="0">
              <a:solidFill>
                <a:srgbClr val="20405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460438" y="3155960"/>
            <a:ext cx="29521218" cy="5705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box 98"/>
          <p:cNvSpPr/>
          <p:nvPr/>
        </p:nvSpPr>
        <p:spPr>
          <a:xfrm>
            <a:off x="1485778" y="4441905"/>
            <a:ext cx="13629005" cy="57029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5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2000"/>
              </a:lnSpc>
            </a:pPr>
            <a:r>
              <a:rPr sz="5900" b="1" kern="0" spc="-170" dirty="0">
                <a:solidFill>
                  <a:srgbClr val="207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Le "Referee"Vi</a:t>
            </a:r>
            <a:r>
              <a:rPr sz="5900" b="1" kern="0" spc="-180" dirty="0">
                <a:solidFill>
                  <a:srgbClr val="207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rtuel</a:t>
            </a:r>
            <a:endParaRPr sz="59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5180"/>
              </a:lnSpc>
              <a:spcBef>
                <a:spcPts val="1145"/>
              </a:spcBef>
            </a:pPr>
            <a:r>
              <a:rPr sz="3800" kern="0" spc="-20" dirty="0">
                <a:solidFill>
                  <a:srgbClr val="306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Table.cpp gère</a:t>
            </a:r>
            <a:r>
              <a:rPr sz="3800" kern="0" spc="350" dirty="0">
                <a:solidFill>
                  <a:srgbClr val="306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800" kern="0" spc="-20" dirty="0">
                <a:solidFill>
                  <a:srgbClr val="306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les</a:t>
            </a:r>
            <a:r>
              <a:rPr sz="3800" kern="0" spc="250" dirty="0">
                <a:solidFill>
                  <a:srgbClr val="306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800" kern="0" spc="-20" dirty="0">
                <a:solidFill>
                  <a:srgbClr val="306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états dela</a:t>
            </a:r>
            <a:r>
              <a:rPr sz="3800" kern="0" spc="360" dirty="0">
                <a:solidFill>
                  <a:srgbClr val="306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800" kern="0" spc="-20" dirty="0">
                <a:solidFill>
                  <a:srgbClr val="306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partie</a:t>
            </a:r>
            <a:r>
              <a:rPr sz="3800" kern="0" spc="250" dirty="0">
                <a:solidFill>
                  <a:srgbClr val="306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800" kern="0" spc="-20" dirty="0">
                <a:solidFill>
                  <a:srgbClr val="306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et</a:t>
            </a:r>
            <a:r>
              <a:rPr sz="3800" kern="0" spc="350" dirty="0">
                <a:solidFill>
                  <a:srgbClr val="306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800" kern="0" spc="-20" dirty="0">
                <a:solidFill>
                  <a:srgbClr val="306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le</a:t>
            </a:r>
            <a:r>
              <a:rPr sz="3800" kern="0" spc="360" dirty="0">
                <a:solidFill>
                  <a:srgbClr val="306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800" kern="0" spc="-20" dirty="0">
                <a:solidFill>
                  <a:srgbClr val="306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</a:t>
            </a:r>
            <a:r>
              <a:rPr sz="3800" kern="0" spc="-30" dirty="0">
                <a:solidFill>
                  <a:srgbClr val="306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assage de</a:t>
            </a:r>
            <a:r>
              <a:rPr sz="3800" kern="0" spc="180" dirty="0">
                <a:solidFill>
                  <a:srgbClr val="306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800" kern="0" spc="-30" dirty="0">
                <a:solidFill>
                  <a:srgbClr val="306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tour</a:t>
            </a:r>
            <a:r>
              <a:rPr sz="3800" kern="0" spc="170" dirty="0">
                <a:solidFill>
                  <a:srgbClr val="306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800" kern="0" spc="-30" dirty="0">
                <a:solidFill>
                  <a:srgbClr val="306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selon</a:t>
            </a:r>
            <a:endParaRPr sz="3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5180"/>
              </a:lnSpc>
              <a:spcBef>
                <a:spcPts val="1120"/>
              </a:spcBef>
            </a:pPr>
            <a:r>
              <a:rPr sz="3800" kern="0" spc="-40" dirty="0">
                <a:solidFill>
                  <a:srgbClr val="20607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les</a:t>
            </a:r>
            <a:r>
              <a:rPr sz="3800" kern="0" spc="1010" dirty="0">
                <a:solidFill>
                  <a:srgbClr val="20607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800" kern="0" spc="-40" dirty="0">
                <a:solidFill>
                  <a:srgbClr val="20607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règles</a:t>
            </a:r>
            <a:r>
              <a:rPr sz="3800" kern="0" spc="870" dirty="0">
                <a:solidFill>
                  <a:srgbClr val="20607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800" kern="0" spc="-40" dirty="0">
                <a:solidFill>
                  <a:srgbClr val="20607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du8-Ball.</a:t>
            </a:r>
            <a:endParaRPr sz="3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14350" algn="l" rtl="0" eaLnBrk="0">
              <a:lnSpc>
                <a:spcPts val="5180"/>
              </a:lnSpc>
              <a:spcBef>
                <a:spcPts val="1145"/>
              </a:spcBef>
            </a:pPr>
            <a:r>
              <a:rPr sz="3800" kern="0" spc="-10" dirty="0">
                <a:solidFill>
                  <a:srgbClr val="20607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·Open  Table:Attribution</a:t>
            </a:r>
            <a:r>
              <a:rPr sz="3800" kern="0" spc="250" dirty="0">
                <a:solidFill>
                  <a:srgbClr val="20607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3800" kern="0" spc="-10" dirty="0">
                <a:solidFill>
                  <a:srgbClr val="20607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</a:t>
            </a:r>
            <a:r>
              <a:rPr sz="3800" kern="0" spc="-20" dirty="0">
                <a:solidFill>
                  <a:srgbClr val="20607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es</a:t>
            </a:r>
            <a:r>
              <a:rPr sz="3800" kern="0" spc="240" dirty="0">
                <a:solidFill>
                  <a:srgbClr val="20607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3800" kern="0" spc="-20" dirty="0">
                <a:solidFill>
                  <a:srgbClr val="20607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groupes(Rouges</a:t>
            </a:r>
            <a:r>
              <a:rPr sz="3800" kern="0" spc="220" dirty="0">
                <a:solidFill>
                  <a:srgbClr val="20607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3800" kern="0" spc="-20" dirty="0">
                <a:solidFill>
                  <a:srgbClr val="20607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vs   Bleues).</a:t>
            </a:r>
            <a:endParaRPr sz="3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14350" algn="l" rtl="0" eaLnBrk="0">
              <a:lnSpc>
                <a:spcPts val="5180"/>
              </a:lnSpc>
              <a:spcBef>
                <a:spcPts val="870"/>
              </a:spcBef>
            </a:pPr>
            <a:r>
              <a:rPr sz="3800" kern="0" spc="-10" dirty="0">
                <a:solidFill>
                  <a:srgbClr val="2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·Continuité:Le  tour </a:t>
            </a:r>
            <a:r>
              <a:rPr sz="3800" kern="0" spc="-20" dirty="0">
                <a:solidFill>
                  <a:srgbClr val="2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continue  siune</a:t>
            </a:r>
            <a:r>
              <a:rPr sz="3800" kern="0" spc="170" dirty="0">
                <a:solidFill>
                  <a:srgbClr val="2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3800" kern="0" spc="-20" dirty="0">
                <a:solidFill>
                  <a:srgbClr val="2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bille</a:t>
            </a:r>
            <a:r>
              <a:rPr sz="3800" kern="0" spc="130" dirty="0">
                <a:solidFill>
                  <a:srgbClr val="2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3800" kern="0" spc="-20" dirty="0">
                <a:solidFill>
                  <a:srgbClr val="2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du</a:t>
            </a:r>
            <a:r>
              <a:rPr sz="3800" kern="0" spc="110" dirty="0">
                <a:solidFill>
                  <a:srgbClr val="2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3800" kern="0" spc="-20" dirty="0">
                <a:solidFill>
                  <a:srgbClr val="2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groupe</a:t>
            </a:r>
            <a:r>
              <a:rPr sz="3800" kern="0" spc="130" dirty="0">
                <a:solidFill>
                  <a:srgbClr val="2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3800" kern="0" spc="-20" dirty="0">
                <a:solidFill>
                  <a:srgbClr val="2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est</a:t>
            </a:r>
            <a:endParaRPr sz="3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028700" algn="l" rtl="0" eaLnBrk="0">
              <a:lnSpc>
                <a:spcPts val="5180"/>
              </a:lnSpc>
              <a:spcBef>
                <a:spcPts val="760"/>
              </a:spcBef>
            </a:pPr>
            <a:r>
              <a:rPr sz="3800" kern="0" spc="-20" dirty="0">
                <a:solidFill>
                  <a:srgbClr val="20607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empochée.</a:t>
            </a:r>
            <a:endParaRPr sz="38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0" name="textbox 100"/>
          <p:cNvSpPr/>
          <p:nvPr/>
        </p:nvSpPr>
        <p:spPr>
          <a:xfrm>
            <a:off x="17647314" y="4760163"/>
            <a:ext cx="10214609" cy="5898692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3800" kern="0" spc="-20" dirty="0">
              <a:solidFill>
                <a:srgbClr val="00000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4145"/>
              </a:lnSpc>
            </a:pPr>
            <a:r>
              <a:rPr sz="38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//Table.cpp    -Logique    du    tour</a:t>
            </a:r>
            <a:endParaRPr sz="3800" kern="0" spc="-20" dirty="0">
              <a:solidFill>
                <a:srgbClr val="00000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9000"/>
              </a:lnSpc>
              <a:spcBef>
                <a:spcPts val="35"/>
              </a:spcBef>
            </a:pPr>
            <a:r>
              <a:rPr sz="3800" kern="0" spc="-20" dirty="0">
                <a:solidFill>
                  <a:srgbClr val="000000">
                    <a:alpha val="100000"/>
                  </a:srgbClr>
                </a:solidFill>
                <a:highlight>
                  <a:srgbClr val="FFFF00"/>
                </a:highlight>
                <a:latin typeface="Arial" panose="020B0604020202020204"/>
                <a:ea typeface="Arial" panose="020B0604020202020204"/>
                <a:cs typeface="Arial" panose="020B0604020202020204"/>
              </a:rPr>
              <a:t>if(tableState ==TABLE_OPEN)</a:t>
            </a:r>
            <a:r>
              <a:rPr sz="38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{</a:t>
            </a:r>
            <a:endParaRPr sz="3800" kern="0" spc="-20" dirty="0">
              <a:solidFill>
                <a:srgbClr val="00000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37565" algn="l" rtl="0" eaLnBrk="0">
              <a:lnSpc>
                <a:spcPct val="71000"/>
              </a:lnSpc>
              <a:spcBef>
                <a:spcPts val="255"/>
              </a:spcBef>
            </a:pPr>
            <a:r>
              <a:rPr sz="38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if(firstPotted  ==RED_BALL){</a:t>
            </a:r>
            <a:endParaRPr sz="3800" kern="0" spc="-20" dirty="0">
              <a:solidFill>
                <a:srgbClr val="00000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4830"/>
              </a:lnSpc>
            </a:pPr>
            <a:r>
              <a:rPr sz="38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tableState =(currentPlayer ==PLAYER_1)?</a:t>
            </a:r>
            <a:endParaRPr sz="3800" kern="0" spc="-20" dirty="0">
              <a:solidFill>
                <a:srgbClr val="00000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444115" algn="l" rtl="0" eaLnBrk="0">
              <a:lnSpc>
                <a:spcPct val="82000"/>
              </a:lnSpc>
              <a:spcBef>
                <a:spcPts val="1155"/>
              </a:spcBef>
            </a:pPr>
            <a:r>
              <a:rPr sz="38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P1</a:t>
            </a:r>
            <a:r>
              <a:rPr lang="en-US" altLang="zh-CN" sz="38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_</a:t>
            </a:r>
            <a:r>
              <a:rPr sz="38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RED</a:t>
            </a:r>
            <a:r>
              <a:rPr lang="en-US" altLang="zh-CN" sz="38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_</a:t>
            </a:r>
            <a:r>
              <a:rPr sz="38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P2</a:t>
            </a:r>
            <a:r>
              <a:rPr lang="en-US" altLang="zh-CN" sz="38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_</a:t>
            </a:r>
            <a:r>
              <a:rPr sz="38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BLUE:P1</a:t>
            </a:r>
            <a:r>
              <a:rPr lang="en-US" altLang="zh-CN" sz="38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_</a:t>
            </a:r>
            <a:r>
              <a:rPr sz="38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BLUE</a:t>
            </a:r>
            <a:r>
              <a:rPr lang="en-US" altLang="zh-CN" sz="38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_</a:t>
            </a:r>
            <a:r>
              <a:rPr sz="38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P2</a:t>
            </a:r>
            <a:r>
              <a:rPr lang="en-US" altLang="zh-CN" sz="38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_</a:t>
            </a:r>
            <a:r>
              <a:rPr sz="38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RED;</a:t>
            </a:r>
            <a:endParaRPr sz="3800" kern="0" spc="-20" dirty="0">
              <a:solidFill>
                <a:srgbClr val="00000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9000"/>
              </a:lnSpc>
              <a:spcBef>
                <a:spcPts val="1145"/>
              </a:spcBef>
            </a:pPr>
            <a:r>
              <a:rPr sz="38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}else    {</a:t>
            </a:r>
            <a:endParaRPr sz="3800" kern="0" spc="-20" dirty="0">
              <a:solidFill>
                <a:srgbClr val="00000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50265" algn="l" rtl="0" eaLnBrk="0">
              <a:lnSpc>
                <a:spcPct val="81000"/>
              </a:lnSpc>
              <a:spcBef>
                <a:spcPts val="575"/>
              </a:spcBef>
            </a:pPr>
            <a:r>
              <a:rPr sz="38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if(!pottedMyBall)switchTurn();</a:t>
            </a:r>
            <a:endParaRPr sz="3800" kern="0" spc="-20" dirty="0">
              <a:solidFill>
                <a:srgbClr val="00000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50265" algn="l" rtl="0" eaLnBrk="0">
              <a:lnSpc>
                <a:spcPct val="81000"/>
              </a:lnSpc>
              <a:spcBef>
                <a:spcPts val="575"/>
              </a:spcBef>
            </a:pPr>
            <a:r>
              <a:rPr lang="en-US" sz="38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}</a:t>
            </a:r>
            <a:endParaRPr lang="en-US" sz="3800" kern="0" spc="-20" dirty="0">
              <a:solidFill>
                <a:srgbClr val="00000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2" name="textbox 102"/>
          <p:cNvSpPr/>
          <p:nvPr/>
        </p:nvSpPr>
        <p:spPr>
          <a:xfrm>
            <a:off x="1485778" y="1733134"/>
            <a:ext cx="13995400" cy="10934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1000"/>
              </a:lnSpc>
              <a:spcBef>
                <a:spcPts val="0"/>
              </a:spcBef>
            </a:pPr>
            <a:r>
              <a:rPr sz="8600" b="1" kern="0" spc="-370" dirty="0">
                <a:solidFill>
                  <a:srgbClr val="204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Logi</a:t>
            </a:r>
            <a:r>
              <a:rPr sz="8600" b="1" kern="0" spc="-360" dirty="0">
                <a:solidFill>
                  <a:srgbClr val="204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que:Système d'Arbitrag</a:t>
            </a:r>
            <a:r>
              <a:rPr sz="8600" b="1" kern="0" spc="-320" dirty="0">
                <a:solidFill>
                  <a:srgbClr val="204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</a:t>
            </a:r>
            <a:endParaRPr sz="86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104" name="picture 1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441582" y="3174979"/>
            <a:ext cx="29559259" cy="1901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picture 1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6840241" y="4267137"/>
            <a:ext cx="14071520" cy="6966082"/>
          </a:xfrm>
          <a:prstGeom prst="rect">
            <a:avLst/>
          </a:prstGeom>
        </p:spPr>
      </p:pic>
      <p:sp>
        <p:nvSpPr>
          <p:cNvPr id="124" name="textbox 124"/>
          <p:cNvSpPr/>
          <p:nvPr/>
        </p:nvSpPr>
        <p:spPr>
          <a:xfrm>
            <a:off x="1466921" y="4553105"/>
            <a:ext cx="14067155" cy="5588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1000"/>
              </a:lnSpc>
            </a:pPr>
            <a:r>
              <a:rPr sz="5300" b="1" kern="0" spc="-30" dirty="0">
                <a:solidFill>
                  <a:srgbClr val="208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Placement</a:t>
            </a:r>
            <a:r>
              <a:rPr sz="5300" b="1" kern="0" spc="250" dirty="0">
                <a:solidFill>
                  <a:srgbClr val="208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</a:t>
            </a:r>
            <a:r>
              <a:rPr sz="5300" b="1" kern="0" spc="-30" dirty="0">
                <a:solidFill>
                  <a:srgbClr val="208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Libr</a:t>
            </a:r>
            <a:r>
              <a:rPr sz="5300" b="1" kern="0" spc="-40" dirty="0">
                <a:solidFill>
                  <a:srgbClr val="208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</a:t>
            </a:r>
            <a:endParaRPr sz="5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7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6545"/>
              </a:lnSpc>
              <a:spcBef>
                <a:spcPts val="1265"/>
              </a:spcBef>
            </a:pPr>
            <a:r>
              <a:rPr sz="4200" kern="0" spc="-13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Mode "Fantôme"activé apres une faute,permettant au joueur d</a:t>
            </a:r>
            <a:r>
              <a:rPr sz="4200" kern="0" spc="-14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</a:t>
            </a:r>
            <a:endParaRPr sz="4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6545"/>
              </a:lnSpc>
            </a:pPr>
            <a:r>
              <a:rPr sz="4100" kern="0" spc="-120" dirty="0">
                <a:solidFill>
                  <a:srgbClr val="2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replacer la</a:t>
            </a:r>
            <a:r>
              <a:rPr sz="4100" kern="0" spc="230" dirty="0">
                <a:solidFill>
                  <a:srgbClr val="2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4100" kern="0" spc="-120" dirty="0">
                <a:solidFill>
                  <a:srgbClr val="2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blanche.</a:t>
            </a:r>
            <a:endParaRPr sz="4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4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94665" algn="l" rtl="0" eaLnBrk="0">
              <a:lnSpc>
                <a:spcPts val="6855"/>
              </a:lnSpc>
              <a:spcBef>
                <a:spcPts val="1320"/>
              </a:spcBef>
            </a:pPr>
            <a:r>
              <a:rPr sz="4400" kern="0" spc="-13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·Validation:Vérific</a:t>
            </a:r>
            <a:r>
              <a:rPr sz="4400" kern="0" spc="-14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ation de non-overlap avec les</a:t>
            </a:r>
            <a:r>
              <a:rPr sz="4400" kern="0" spc="17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4400" kern="0" spc="-14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billes</a:t>
            </a:r>
            <a:endParaRPr sz="4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028700" algn="l" rtl="0" eaLnBrk="0">
              <a:lnSpc>
                <a:spcPts val="6020"/>
              </a:lnSpc>
            </a:pPr>
            <a:r>
              <a:rPr sz="4400" kern="0" spc="-170" dirty="0">
                <a:solidFill>
                  <a:srgbClr val="20607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actives.</a:t>
            </a:r>
            <a:endParaRPr sz="4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14350" algn="l" rtl="0" eaLnBrk="0">
              <a:lnSpc>
                <a:spcPts val="6255"/>
              </a:lnSpc>
            </a:pPr>
            <a:r>
              <a:rPr sz="4400" kern="0" spc="-15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·</a:t>
            </a:r>
            <a:r>
              <a:rPr sz="4400" kern="0" spc="38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4400" kern="0" spc="-15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Contrain</a:t>
            </a:r>
            <a:r>
              <a:rPr sz="4400" kern="0" spc="-16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te:Limites physiques delatable respectées.</a:t>
            </a:r>
            <a:endParaRPr sz="4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6" name="textbox 126"/>
          <p:cNvSpPr/>
          <p:nvPr/>
        </p:nvSpPr>
        <p:spPr>
          <a:xfrm>
            <a:off x="17341879" y="4611937"/>
            <a:ext cx="12934950" cy="56984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1750" algn="l" rtl="0" eaLnBrk="0">
              <a:lnSpc>
                <a:spcPts val="4720"/>
              </a:lnSpc>
            </a:pPr>
            <a:r>
              <a:rPr sz="3900" kern="0" spc="-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//Table.cpp-Validati</a:t>
            </a:r>
            <a:r>
              <a:rPr sz="3900" kern="0" spc="-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on du placement</a:t>
            </a:r>
            <a:endParaRPr sz="39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spcBef>
                <a:spcPts val="25"/>
              </a:spcBef>
            </a:pPr>
            <a:r>
              <a:rPr sz="3900" kern="0" spc="-1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bool Table::confirmWhiteBallPlacem</a:t>
            </a:r>
            <a:r>
              <a:rPr sz="3900" kern="0" spc="-1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ent(){</a:t>
            </a:r>
            <a:endParaRPr sz="39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18515" algn="l" rtl="0" eaLnBrk="0">
              <a:lnSpc>
                <a:spcPct val="85000"/>
              </a:lnSpc>
              <a:spcBef>
                <a:spcPts val="20"/>
              </a:spcBef>
            </a:pPr>
            <a:r>
              <a:rPr sz="3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for</a:t>
            </a:r>
            <a:r>
              <a:rPr sz="3900" kern="0" spc="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</a:t>
            </a:r>
            <a:r>
              <a:rPr sz="3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const</a:t>
            </a:r>
            <a:r>
              <a:rPr sz="3900" kern="0" spc="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auto</a:t>
            </a:r>
            <a:r>
              <a:rPr sz="3900" kern="0" spc="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&amp; </a:t>
            </a:r>
            <a:r>
              <a:rPr sz="3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other</a:t>
            </a:r>
            <a:r>
              <a:rPr sz="3900" kern="0" spc="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:</a:t>
            </a:r>
            <a:r>
              <a:rPr lang="en-US" altLang="zh-CN" sz="3900" kern="0" spc="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:</a:t>
            </a:r>
            <a:r>
              <a:rPr sz="3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balls</a:t>
            </a:r>
            <a:r>
              <a:rPr sz="3900" kern="0" spc="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){</a:t>
            </a:r>
            <a:endParaRPr sz="39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638300" algn="l" rtl="0" eaLnBrk="0">
              <a:lnSpc>
                <a:spcPct val="87000"/>
              </a:lnSpc>
              <a:spcBef>
                <a:spcPts val="10"/>
              </a:spcBef>
            </a:pPr>
            <a:r>
              <a:rPr sz="3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if(&amp;other</a:t>
            </a:r>
            <a:r>
              <a:rPr sz="3900" kern="0" spc="8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==wb</a:t>
            </a:r>
            <a:r>
              <a:rPr sz="3900" kern="0" spc="10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|</a:t>
            </a:r>
            <a:r>
              <a:rPr lang="en-US" altLang="zh-CN" sz="3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| </a:t>
            </a:r>
            <a:r>
              <a:rPr sz="3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!other.isBallA</a:t>
            </a:r>
            <a:r>
              <a:rPr sz="39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ctive()) continue;</a:t>
            </a:r>
            <a:r>
              <a:rPr sz="3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float</a:t>
            </a:r>
            <a:r>
              <a:rPr sz="3900" kern="0" spc="4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dist</a:t>
            </a:r>
            <a:r>
              <a:rPr sz="3900" kern="0" spc="4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9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=(</a:t>
            </a:r>
            <a:r>
              <a:rPr sz="3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myPos</a:t>
            </a:r>
            <a:r>
              <a:rPr sz="3900" kern="0" spc="3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9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- </a:t>
            </a:r>
            <a:r>
              <a:rPr sz="3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other</a:t>
            </a:r>
            <a:r>
              <a:rPr sz="39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.</a:t>
            </a:r>
            <a:r>
              <a:rPr sz="3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getPosition</a:t>
            </a:r>
            <a:r>
              <a:rPr sz="39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()).</a:t>
            </a:r>
            <a:r>
              <a:rPr sz="3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length</a:t>
            </a:r>
            <a:r>
              <a:rPr sz="39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();</a:t>
            </a:r>
            <a:endParaRPr sz="39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638300" algn="l" rtl="0" eaLnBrk="0">
              <a:lnSpc>
                <a:spcPts val="5005"/>
              </a:lnSpc>
            </a:pPr>
            <a:r>
              <a:rPr sz="3900" kern="0" spc="0" dirty="0">
                <a:solidFill>
                  <a:srgbClr val="000000">
                    <a:alpha val="100000"/>
                  </a:srgbClr>
                </a:solidFill>
                <a:highlight>
                  <a:srgbClr val="FFFF00"/>
                </a:highlight>
                <a:latin typeface="Arial" panose="020B0604020202020204"/>
                <a:ea typeface="Arial" panose="020B0604020202020204"/>
                <a:cs typeface="Arial" panose="020B0604020202020204"/>
              </a:rPr>
              <a:t>if(dist</a:t>
            </a:r>
            <a:r>
              <a:rPr sz="3900" kern="0" spc="1060" dirty="0">
                <a:solidFill>
                  <a:srgbClr val="000000">
                    <a:alpha val="100000"/>
                  </a:srgbClr>
                </a:solidFill>
                <a:highlight>
                  <a:srgbClr val="FFFF00"/>
                </a:highlight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900" kern="0" spc="0" dirty="0">
                <a:solidFill>
                  <a:srgbClr val="000000">
                    <a:alpha val="100000"/>
                  </a:srgbClr>
                </a:solidFill>
                <a:highlight>
                  <a:srgbClr val="FFFF00"/>
                </a:highlight>
                <a:latin typeface="Arial" panose="020B0604020202020204"/>
                <a:ea typeface="Arial" panose="020B0604020202020204"/>
                <a:cs typeface="Arial" panose="020B0604020202020204"/>
              </a:rPr>
              <a:t>&lt;(myR</a:t>
            </a:r>
            <a:r>
              <a:rPr sz="3900" kern="0" spc="1070" dirty="0">
                <a:solidFill>
                  <a:srgbClr val="000000">
                    <a:alpha val="100000"/>
                  </a:srgbClr>
                </a:solidFill>
                <a:highlight>
                  <a:srgbClr val="FFFF00"/>
                </a:highlight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900" kern="0" spc="0" dirty="0">
                <a:solidFill>
                  <a:srgbClr val="000000">
                    <a:alpha val="100000"/>
                  </a:srgbClr>
                </a:solidFill>
                <a:highlight>
                  <a:srgbClr val="FFFF00"/>
                </a:highlight>
                <a:latin typeface="Arial" panose="020B0604020202020204"/>
                <a:ea typeface="Arial" panose="020B0604020202020204"/>
                <a:cs typeface="Arial" panose="020B0604020202020204"/>
              </a:rPr>
              <a:t>+other.getRa</a:t>
            </a:r>
            <a:r>
              <a:rPr sz="3900" kern="0" spc="-10" dirty="0">
                <a:solidFill>
                  <a:srgbClr val="000000">
                    <a:alpha val="100000"/>
                  </a:srgbClr>
                </a:solidFill>
                <a:highlight>
                  <a:srgbClr val="FFFF00"/>
                </a:highlight>
                <a:latin typeface="Arial" panose="020B0604020202020204"/>
                <a:ea typeface="Arial" panose="020B0604020202020204"/>
                <a:cs typeface="Arial" panose="020B0604020202020204"/>
              </a:rPr>
              <a:t>dium()))</a:t>
            </a:r>
            <a:r>
              <a:rPr sz="39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{</a:t>
            </a:r>
            <a:endParaRPr sz="39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475865" algn="l" rtl="0" eaLnBrk="0">
              <a:lnSpc>
                <a:spcPct val="73000"/>
              </a:lnSpc>
              <a:spcBef>
                <a:spcPts val="600"/>
              </a:spcBef>
            </a:pPr>
            <a:r>
              <a:rPr sz="3900" kern="0" spc="-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return false;//Echec du placement</a:t>
            </a:r>
            <a:endParaRPr sz="39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18515" algn="l" rtl="0" eaLnBrk="0">
              <a:lnSpc>
                <a:spcPts val="6860"/>
              </a:lnSpc>
              <a:spcBef>
                <a:spcPts val="1235"/>
              </a:spcBef>
            </a:pPr>
            <a:r>
              <a:rPr sz="4100" kern="0" spc="-1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placingWhiteBall =false</a:t>
            </a:r>
            <a:r>
              <a:rPr sz="4100" kern="0" spc="-1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;</a:t>
            </a:r>
            <a:endParaRPr sz="4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18515" algn="l" rtl="0" eaLnBrk="0">
              <a:lnSpc>
                <a:spcPct val="75000"/>
              </a:lnSpc>
              <a:spcBef>
                <a:spcPts val="5"/>
              </a:spcBef>
            </a:pPr>
            <a:r>
              <a:rPr sz="39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return</a:t>
            </a:r>
            <a:r>
              <a:rPr sz="3900" kern="0" spc="6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9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true;</a:t>
            </a:r>
            <a:endParaRPr sz="39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8" name="textbox 128"/>
          <p:cNvSpPr/>
          <p:nvPr/>
        </p:nvSpPr>
        <p:spPr>
          <a:xfrm>
            <a:off x="1466921" y="1939956"/>
            <a:ext cx="11988800" cy="10439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4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1000"/>
              </a:lnSpc>
            </a:pPr>
            <a:r>
              <a:rPr sz="8300" b="1" kern="0" spc="-90" dirty="0">
                <a:solidFill>
                  <a:srgbClr val="204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Interaction:Bille en main</a:t>
            </a:r>
            <a:endParaRPr sz="83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130" name="picture 1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460438" y="3155960"/>
            <a:ext cx="29521218" cy="5705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" name="textbox 32"/>
          <p:cNvSpPr/>
          <p:nvPr/>
        </p:nvSpPr>
        <p:spPr>
          <a:xfrm>
            <a:off x="8198485" y="5212080"/>
            <a:ext cx="7754620" cy="12896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>
            <a:scene3d>
              <a:camera prst="orthographicFront"/>
              <a:lightRig rig="threePt" dir="t"/>
            </a:scene3d>
          </a:bodyPr>
          <a:lstStyle/>
          <a:p>
            <a:pPr algn="l" rtl="0" eaLnBrk="0">
              <a:lnSpc>
                <a:spcPct val="81000"/>
              </a:lnSpc>
              <a:spcBef>
                <a:spcPts val="0"/>
              </a:spcBef>
            </a:pPr>
            <a:endParaRPr lang="en-US" sz="9600" b="1" kern="0" spc="-90" dirty="0">
              <a:ln w="15875"/>
              <a:gradFill>
                <a:gsLst>
                  <a:gs pos="0">
                    <a:schemeClr val="accent1">
                      <a:hueMod val="80000"/>
                    </a:schemeClr>
                  </a:gs>
                  <a:gs pos="100000">
                    <a:schemeClr val="accent1">
                      <a:alpha val="100000"/>
                    </a:schemeClr>
                  </a:gs>
                </a:gsLst>
                <a:lin ang="2700000" scaled="0"/>
              </a:gradFill>
              <a:effectLst/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textbox 4"/>
          <p:cNvSpPr/>
          <p:nvPr/>
        </p:nvSpPr>
        <p:spPr>
          <a:xfrm>
            <a:off x="3016885" y="6129020"/>
            <a:ext cx="28501340" cy="104527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26565" algn="l" rtl="0" eaLnBrk="0">
              <a:lnSpc>
                <a:spcPct val="82000"/>
              </a:lnSpc>
              <a:spcBef>
                <a:spcPts val="4830"/>
              </a:spcBef>
            </a:pPr>
            <a:r>
              <a:rPr lang="en-US" altLang="zh-CN" sz="16000" b="1" kern="0" spc="-580" dirty="0">
                <a:solidFill>
                  <a:srgbClr val="204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Rendering &amp; Interaction</a:t>
            </a:r>
            <a:endParaRPr lang="en-US" altLang="zh-CN" sz="16000" b="1" kern="0" spc="-580" dirty="0">
              <a:solidFill>
                <a:srgbClr val="20404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lang="en-US" sz="16000" b="1" kern="0" spc="-580" dirty="0">
              <a:solidFill>
                <a:srgbClr val="20404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b="1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b="1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b="1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b="1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b="1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b="1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r>
              <a:rPr lang="en-US" sz="3800" b="1" kern="0" spc="-2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                                    </a:t>
            </a:r>
            <a:endParaRPr sz="3800" b="1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8"/>
          <p:cNvSpPr/>
          <p:nvPr/>
        </p:nvSpPr>
        <p:spPr>
          <a:xfrm>
            <a:off x="1447800" y="4093210"/>
            <a:ext cx="29533850" cy="78460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24000"/>
              </a:lnSpc>
              <a:spcBef>
                <a:spcPts val="1235"/>
              </a:spcBef>
            </a:pPr>
            <a:r>
              <a:rPr lang="zh-CN" sz="6400" b="1" kern="0" spc="-280" dirty="0">
                <a:solidFill>
                  <a:srgbClr val="208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★</a:t>
            </a:r>
            <a:r>
              <a:rPr lang="en-US" altLang="zh-CN" sz="6400" b="1" kern="0" spc="-280" dirty="0">
                <a:solidFill>
                  <a:srgbClr val="208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  </a:t>
            </a:r>
            <a:r>
              <a:rPr lang="en-US" altLang="zh-CN" sz="6400" b="1" kern="0" spc="-280" dirty="0">
                <a:solidFill>
                  <a:srgbClr val="208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Texture de la table</a:t>
            </a:r>
            <a:endParaRPr lang="en-US" altLang="zh-CN" sz="6400" b="1" kern="0" spc="-280" dirty="0">
              <a:solidFill>
                <a:srgbClr val="20809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24000"/>
              </a:lnSpc>
              <a:spcBef>
                <a:spcPts val="1235"/>
              </a:spcBef>
            </a:pPr>
            <a:r>
              <a:rPr lang="zh-CN" sz="6400" b="1" kern="0" spc="-280" dirty="0">
                <a:solidFill>
                  <a:srgbClr val="208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★</a:t>
            </a:r>
            <a:r>
              <a:rPr lang="en-US" altLang="zh-CN" sz="6400" b="1" kern="0" spc="-280" dirty="0">
                <a:solidFill>
                  <a:srgbClr val="208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  </a:t>
            </a:r>
            <a:r>
              <a:rPr lang="en-US" altLang="zh-CN" sz="6400" b="1" kern="0" spc="-280" dirty="0">
                <a:solidFill>
                  <a:srgbClr val="208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Texture des billes</a:t>
            </a:r>
            <a:endParaRPr lang="en-US" altLang="zh-CN" sz="6400" b="1" kern="0" spc="-280" dirty="0">
              <a:solidFill>
                <a:srgbClr val="20809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24000"/>
              </a:lnSpc>
              <a:spcBef>
                <a:spcPts val="1235"/>
              </a:spcBef>
            </a:pPr>
            <a:r>
              <a:rPr lang="zh-CN" sz="6400" b="1" kern="0" spc="-280" dirty="0">
                <a:solidFill>
                  <a:srgbClr val="208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★</a:t>
            </a:r>
            <a:r>
              <a:rPr lang="en-US" altLang="zh-CN" sz="6400" b="1" kern="0" spc="-280" dirty="0">
                <a:solidFill>
                  <a:srgbClr val="208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  </a:t>
            </a:r>
            <a:r>
              <a:rPr lang="en-US" altLang="zh-CN" sz="6400" b="1" kern="0" spc="-280" dirty="0">
                <a:solidFill>
                  <a:srgbClr val="208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Queue de billard</a:t>
            </a:r>
            <a:endParaRPr lang="en-US" altLang="zh-CN" sz="6400" b="1" kern="0" spc="-280" dirty="0">
              <a:solidFill>
                <a:srgbClr val="20809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24000"/>
              </a:lnSpc>
              <a:spcBef>
                <a:spcPts val="1235"/>
              </a:spcBef>
            </a:pPr>
            <a:r>
              <a:rPr lang="zh-CN" sz="6400" b="1" kern="0" spc="-280" dirty="0">
                <a:solidFill>
                  <a:srgbClr val="208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★</a:t>
            </a:r>
            <a:r>
              <a:rPr lang="en-US" altLang="zh-CN" sz="6400" b="1" kern="0" spc="-280" dirty="0">
                <a:solidFill>
                  <a:srgbClr val="208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  </a:t>
            </a:r>
            <a:r>
              <a:rPr lang="en-US" altLang="zh-CN" sz="6400" b="1" kern="0" spc="-280" dirty="0">
                <a:solidFill>
                  <a:srgbClr val="208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Ligne de vis</a:t>
            </a:r>
            <a:r>
              <a:rPr lang="en-US" altLang="en-US" sz="6400" b="1" kern="0" spc="-280" dirty="0">
                <a:solidFill>
                  <a:srgbClr val="208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é</a:t>
            </a:r>
            <a:r>
              <a:rPr lang="en-US" altLang="zh-CN" sz="6400" b="1" kern="0" spc="-280" dirty="0">
                <a:solidFill>
                  <a:srgbClr val="208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</a:t>
            </a:r>
            <a:endParaRPr lang="en-US" altLang="zh-CN" sz="6400" b="1" kern="0" spc="-280" dirty="0">
              <a:solidFill>
                <a:srgbClr val="20809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24000"/>
              </a:lnSpc>
              <a:spcBef>
                <a:spcPts val="1235"/>
              </a:spcBef>
            </a:pPr>
            <a:r>
              <a:rPr lang="zh-CN" sz="6400" b="1" kern="0" spc="-280" dirty="0">
                <a:solidFill>
                  <a:srgbClr val="208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★</a:t>
            </a:r>
            <a:r>
              <a:rPr lang="en-US" altLang="zh-CN" sz="6400" b="1" kern="0" spc="-280" dirty="0">
                <a:solidFill>
                  <a:srgbClr val="208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  </a:t>
            </a:r>
            <a:r>
              <a:rPr lang="en-US" altLang="zh-CN" sz="6400" b="1" kern="0" spc="-280" dirty="0">
                <a:solidFill>
                  <a:srgbClr val="208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HUD du joueur actuel</a:t>
            </a:r>
            <a:endParaRPr lang="en-US" altLang="zh-CN" sz="6400" b="1" kern="0" spc="-280" dirty="0">
              <a:solidFill>
                <a:srgbClr val="20809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24000"/>
              </a:lnSpc>
              <a:spcBef>
                <a:spcPts val="1235"/>
              </a:spcBef>
            </a:pPr>
            <a:r>
              <a:rPr lang="zh-CN" sz="6400" b="1" kern="0" spc="-280" dirty="0">
                <a:solidFill>
                  <a:srgbClr val="208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★</a:t>
            </a:r>
            <a:r>
              <a:rPr lang="en-US" altLang="zh-CN" sz="6400" b="1" kern="0" spc="-280" dirty="0">
                <a:solidFill>
                  <a:srgbClr val="208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  </a:t>
            </a:r>
            <a:r>
              <a:rPr lang="en-US" altLang="zh-CN" sz="6400" b="1" kern="0" spc="-280" dirty="0">
                <a:solidFill>
                  <a:srgbClr val="208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HUD de l’</a:t>
            </a:r>
            <a:r>
              <a:rPr lang="en-US" altLang="en-US" sz="6400" b="1" kern="0" spc="-280" dirty="0">
                <a:solidFill>
                  <a:srgbClr val="208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é</a:t>
            </a:r>
            <a:r>
              <a:rPr lang="en-US" altLang="zh-CN" sz="6400" b="1" kern="0" spc="-280" dirty="0">
                <a:solidFill>
                  <a:srgbClr val="208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tat de la table</a:t>
            </a:r>
            <a:endParaRPr lang="en-US" altLang="zh-CN" sz="6400" b="1" kern="0" spc="-280" dirty="0">
              <a:solidFill>
                <a:srgbClr val="20809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24000"/>
              </a:lnSpc>
              <a:spcBef>
                <a:spcPts val="1235"/>
              </a:spcBef>
            </a:pPr>
            <a:r>
              <a:rPr lang="zh-CN" sz="6400" b="1" kern="0" spc="-280" dirty="0">
                <a:solidFill>
                  <a:srgbClr val="208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★</a:t>
            </a:r>
            <a:r>
              <a:rPr lang="en-US" altLang="zh-CN" sz="6400" b="1" kern="0" spc="-280" dirty="0">
                <a:solidFill>
                  <a:srgbClr val="208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  </a:t>
            </a:r>
            <a:r>
              <a:rPr lang="en-US" altLang="zh-CN" sz="6400" b="1" kern="0" spc="-280" dirty="0">
                <a:solidFill>
                  <a:srgbClr val="208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Indication </a:t>
            </a:r>
            <a:r>
              <a:rPr lang="en-US" altLang="en-US" sz="6400" b="1" kern="0" spc="-280" dirty="0">
                <a:solidFill>
                  <a:srgbClr val="208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«</a:t>
            </a:r>
            <a:r>
              <a:rPr lang="en-US" altLang="zh-CN" sz="6400" b="1" kern="0" spc="-280" dirty="0">
                <a:solidFill>
                  <a:srgbClr val="208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bille en main </a:t>
            </a:r>
            <a:r>
              <a:rPr lang="en-US" altLang="en-US" sz="6400" b="1" kern="0" spc="-280" dirty="0">
                <a:solidFill>
                  <a:srgbClr val="208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»</a:t>
            </a:r>
            <a:endParaRPr lang="en-US" altLang="zh-CN" sz="6400" b="1" kern="0" spc="-280" dirty="0">
              <a:solidFill>
                <a:srgbClr val="20809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24000"/>
              </a:lnSpc>
              <a:spcBef>
                <a:spcPts val="1235"/>
              </a:spcBef>
            </a:pPr>
            <a:r>
              <a:rPr lang="zh-CN" sz="6400" b="1" kern="0" spc="-280" dirty="0">
                <a:solidFill>
                  <a:srgbClr val="208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★</a:t>
            </a:r>
            <a:r>
              <a:rPr lang="en-US" altLang="zh-CN" sz="6400" b="1" kern="0" spc="-280" dirty="0">
                <a:solidFill>
                  <a:srgbClr val="208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  </a:t>
            </a:r>
            <a:r>
              <a:rPr lang="en-US" altLang="zh-CN" sz="6400" b="1" kern="0" spc="-280" dirty="0">
                <a:solidFill>
                  <a:srgbClr val="208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Sch</a:t>
            </a:r>
            <a:r>
              <a:rPr lang="en-US" altLang="en-US" sz="6400" b="1" kern="0" spc="-280" dirty="0">
                <a:solidFill>
                  <a:srgbClr val="208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é</a:t>
            </a:r>
            <a:r>
              <a:rPr lang="en-US" altLang="zh-CN" sz="6400" b="1" kern="0" spc="-280" dirty="0">
                <a:solidFill>
                  <a:srgbClr val="208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ma radar du point d’impact en bas à gauche</a:t>
            </a:r>
            <a:endParaRPr lang="en-US" altLang="zh-CN" sz="6400" b="1" kern="0" spc="-280" dirty="0">
              <a:solidFill>
                <a:srgbClr val="20809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2" name="textbox 32"/>
          <p:cNvSpPr/>
          <p:nvPr/>
        </p:nvSpPr>
        <p:spPr>
          <a:xfrm>
            <a:off x="1447800" y="1917700"/>
            <a:ext cx="23601680" cy="10191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81000"/>
              </a:lnSpc>
              <a:spcBef>
                <a:spcPts val="0"/>
              </a:spcBef>
            </a:pPr>
            <a:r>
              <a:rPr lang="en-US" altLang="zh-CN" sz="8000" b="1" kern="0" spc="-90" dirty="0">
                <a:solidFill>
                  <a:srgbClr val="204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Conception de l’interface et effets visuels</a:t>
            </a:r>
            <a:endParaRPr lang="en-US" altLang="zh-CN" sz="8000" b="1" kern="0" spc="-90" dirty="0">
              <a:solidFill>
                <a:srgbClr val="20405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460438" y="3155960"/>
            <a:ext cx="29521218" cy="57058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8128000" y="8605520"/>
            <a:ext cx="16256000" cy="10763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6400" b="1" kern="0" spc="-280" dirty="0">
                <a:solidFill>
                  <a:srgbClr val="208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 </a:t>
            </a:r>
            <a:endParaRPr lang="en-US" altLang="zh-CN" sz="6400" b="1" kern="0" spc="-280" dirty="0">
              <a:solidFill>
                <a:srgbClr val="20809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45239" y="9239279"/>
            <a:ext cx="4510622" cy="4420409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35564" y="4556707"/>
            <a:ext cx="9930135" cy="332885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" name="textbox 32"/>
          <p:cNvSpPr/>
          <p:nvPr/>
        </p:nvSpPr>
        <p:spPr>
          <a:xfrm>
            <a:off x="8198485" y="5212080"/>
            <a:ext cx="7754620" cy="12896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>
            <a:scene3d>
              <a:camera prst="orthographicFront"/>
              <a:lightRig rig="threePt" dir="t"/>
            </a:scene3d>
          </a:bodyPr>
          <a:lstStyle/>
          <a:p>
            <a:pPr algn="l" rtl="0" eaLnBrk="0">
              <a:lnSpc>
                <a:spcPct val="81000"/>
              </a:lnSpc>
              <a:spcBef>
                <a:spcPts val="0"/>
              </a:spcBef>
            </a:pPr>
            <a:endParaRPr lang="en-US" sz="9600" b="1" kern="0" spc="-90" dirty="0">
              <a:ln w="15875"/>
              <a:gradFill>
                <a:gsLst>
                  <a:gs pos="0">
                    <a:schemeClr val="accent1">
                      <a:hueMod val="80000"/>
                    </a:schemeClr>
                  </a:gs>
                  <a:gs pos="100000">
                    <a:schemeClr val="accent1">
                      <a:alpha val="100000"/>
                    </a:schemeClr>
                  </a:gs>
                </a:gsLst>
                <a:lin ang="2700000" scaled="0"/>
              </a:gradFill>
              <a:effectLst/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textbox 4"/>
          <p:cNvSpPr/>
          <p:nvPr/>
        </p:nvSpPr>
        <p:spPr>
          <a:xfrm>
            <a:off x="2005330" y="5984875"/>
            <a:ext cx="28501340" cy="104527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26565" algn="l" rtl="0" eaLnBrk="0">
              <a:lnSpc>
                <a:spcPct val="82000"/>
              </a:lnSpc>
              <a:spcBef>
                <a:spcPts val="4830"/>
              </a:spcBef>
            </a:pPr>
            <a:r>
              <a:rPr lang="en-US" altLang="zh-CN" sz="16000" b="1" kern="0" spc="-580" dirty="0">
                <a:solidFill>
                  <a:srgbClr val="204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R</a:t>
            </a:r>
            <a:r>
              <a:rPr lang="en-US" altLang="en-US" sz="16000" b="1" kern="0" spc="-580" dirty="0">
                <a:solidFill>
                  <a:srgbClr val="204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é</a:t>
            </a:r>
            <a:r>
              <a:rPr lang="en-US" altLang="zh-CN" sz="16000" b="1" kern="0" spc="-580" dirty="0">
                <a:solidFill>
                  <a:srgbClr val="204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sultats &amp; D</a:t>
            </a:r>
            <a:r>
              <a:rPr lang="en-US" altLang="zh-CN" sz="16000" b="1" kern="0" spc="-580" dirty="0">
                <a:solidFill>
                  <a:srgbClr val="204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emonstration</a:t>
            </a:r>
            <a:endParaRPr lang="en-US" altLang="zh-CN" sz="16000" b="1" kern="0" spc="-580" dirty="0">
              <a:solidFill>
                <a:srgbClr val="20404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lang="en-US" sz="16000" b="1" kern="0" spc="-580" dirty="0">
              <a:solidFill>
                <a:srgbClr val="20404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b="1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b="1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b="1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b="1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b="1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b="1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r>
              <a:rPr lang="en-US" sz="3800" b="1" kern="0" spc="-20" dirty="0">
                <a:solidFill>
                  <a:srgbClr val="306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                                    </a:t>
            </a:r>
            <a:endParaRPr sz="3800" b="1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6293</Words>
  <Application>WPS Office WWO_wpscloud_20260409124150-2e61b06350</Application>
  <PresentationFormat/>
  <Paragraphs>361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8" baseType="lpstr">
      <vt:lpstr>Arial</vt:lpstr>
      <vt:lpstr>宋体</vt:lpstr>
      <vt:lpstr>Wingdings</vt:lpstr>
      <vt:lpstr>Arial</vt:lpstr>
      <vt:lpstr>汉仪书宋二KW</vt:lpstr>
      <vt:lpstr>Times New Roman</vt:lpstr>
      <vt:lpstr>Kingsoft Confetti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微信用户</cp:lastModifiedBy>
  <dcterms:created xsi:type="dcterms:W3CDTF">2026-04-13T16:04:48Z</dcterms:created>
  <dcterms:modified xsi:type="dcterms:W3CDTF">2026-04-13T16:04:48Z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wqlLaW5nc29mdCBQREYgdG8gV1BTIDExMEI</vt:lpwstr>
  </property>
  <property fmtid="{D5CDD505-2E9C-101B-9397-08002B2CF9AE}" pid="3" name="Created">
    <vt:filetime>2026-04-09T13:05:12Z</vt:filetime>
  </property>
  <property fmtid="{D5CDD505-2E9C-101B-9397-08002B2CF9AE}" pid="4" name="UsrData">
    <vt:lpwstr>69d6527cd051e3002064a362wl</vt:lpwstr>
  </property>
  <property fmtid="{D5CDD505-2E9C-101B-9397-08002B2CF9AE}" pid="5" name="ICV">
    <vt:lpwstr>B6405AFD64694710BCA38B37CD5E4588_13</vt:lpwstr>
  </property>
  <property fmtid="{D5CDD505-2E9C-101B-9397-08002B2CF9AE}" pid="6" name="KSOProductBuildVer">
    <vt:lpwstr>2052-12.9.0.25970</vt:lpwstr>
  </property>
</Properties>
</file>